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60" r:id="rId3"/>
    <p:sldId id="257" r:id="rId4"/>
    <p:sldId id="258" r:id="rId5"/>
    <p:sldId id="259" r:id="rId6"/>
    <p:sldId id="2147483639"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7" d="100"/>
          <a:sy n="107" d="100"/>
        </p:scale>
        <p:origin x="72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5CBAAE-1A7D-45AB-8CBB-D941E7B0FC5E}" type="datetimeFigureOut">
              <a:rPr lang="en-AU" smtClean="0"/>
              <a:t>8/11/2025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B28D4-A384-4D13-B57C-E7F8BF29F9BE}" type="slidenum">
              <a:rPr lang="en-AU" smtClean="0"/>
              <a:t>‹#›</a:t>
            </a:fld>
            <a:endParaRPr lang="en-AU"/>
          </a:p>
        </p:txBody>
      </p:sp>
    </p:spTree>
    <p:extLst>
      <p:ext uri="{BB962C8B-B14F-4D97-AF65-F5344CB8AC3E}">
        <p14:creationId xmlns:p14="http://schemas.microsoft.com/office/powerpoint/2010/main" val="3782531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4EB6A-917F-F398-2BE3-8F10C5E6EC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74C757-2713-9AAD-F7D0-0C896A41852A}"/>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C5E3D978-367F-BD57-260B-AB9151BF11B3}"/>
              </a:ext>
            </a:extLst>
          </p:cNvPr>
          <p:cNvSpPr>
            <a:spLocks noGrp="1"/>
          </p:cNvSpPr>
          <p:nvPr>
            <p:ph type="body" idx="1"/>
          </p:nvPr>
        </p:nvSpPr>
        <p:spPr/>
        <p:txBody>
          <a:bodyPr/>
          <a:lstStyle/>
          <a:p>
            <a:r>
              <a:rPr lang="en-US" sz="882" b="1" kern="1200" dirty="0">
                <a:solidFill>
                  <a:schemeClr val="tx1"/>
                </a:solidFill>
                <a:effectLst/>
                <a:latin typeface="Segoe UI" panose="020B0502040204020203" pitchFamily="34" charset="0"/>
                <a:ea typeface="+mn-ea"/>
                <a:cs typeface="+mn-cs"/>
              </a:rPr>
              <a:t>### Evolution of AI Agents – How does Function Calling work?</a:t>
            </a:r>
            <a:endParaRPr lang="en-US" sz="882" b="0" kern="1200" dirty="0">
              <a:solidFill>
                <a:schemeClr val="tx1"/>
              </a:solidFill>
              <a:effectLst/>
              <a:latin typeface="Segoe UI" panose="020B0502040204020203" pitchFamily="34" charset="0"/>
              <a:ea typeface="+mn-ea"/>
              <a:cs typeface="+mn-cs"/>
            </a:endParaRPr>
          </a:p>
          <a:p>
            <a:br>
              <a:rPr lang="en-US" sz="882" b="0" kern="1200" dirty="0">
                <a:solidFill>
                  <a:schemeClr val="tx1"/>
                </a:solidFill>
                <a:effectLst/>
                <a:latin typeface="Segoe UI" panose="020B0502040204020203" pitchFamily="34" charset="0"/>
                <a:ea typeface="+mn-ea"/>
                <a:cs typeface="+mn-cs"/>
              </a:rPr>
            </a:br>
            <a:r>
              <a:rPr lang="en-US" sz="882" b="0" kern="1200" dirty="0">
                <a:solidFill>
                  <a:schemeClr val="tx1"/>
                </a:solidFill>
                <a:effectLst/>
                <a:latin typeface="Segoe UI" panose="020B0502040204020203" pitchFamily="34" charset="0"/>
                <a:ea typeface="+mn-ea"/>
                <a:cs typeface="+mn-cs"/>
              </a:rPr>
              <a:t>Some models support function calling. The way this works is that you can define a set of functions that the model can call. These functions have specific parameters that the model needs to fill in based on the context of the conversation. The model returns a structured output that includes the function name and the parameters required for the function call. If the parameters are not available in the context, the model will continue the conversation to ask the user for the required information.</a:t>
            </a:r>
          </a:p>
          <a:p>
            <a:br>
              <a:rPr lang="en-US" sz="882" b="0" kern="1200" dirty="0">
                <a:solidFill>
                  <a:schemeClr val="tx1"/>
                </a:solidFill>
                <a:effectLst/>
                <a:latin typeface="Segoe UI" panose="020B0502040204020203" pitchFamily="34" charset="0"/>
                <a:ea typeface="+mn-ea"/>
                <a:cs typeface="+mn-cs"/>
              </a:rPr>
            </a:br>
            <a:r>
              <a:rPr lang="en-US" sz="882" b="0" kern="1200" dirty="0">
                <a:solidFill>
                  <a:schemeClr val="tx1"/>
                </a:solidFill>
                <a:effectLst/>
                <a:latin typeface="Segoe UI" panose="020B0502040204020203" pitchFamily="34" charset="0"/>
                <a:ea typeface="+mn-ea"/>
                <a:cs typeface="+mn-cs"/>
              </a:rPr>
              <a:t>Your host application will respond to the function call by executing the function and returning the result to the model.  This cycle continues until the model has all the information it needs to generate a final response.</a:t>
            </a:r>
          </a:p>
          <a:p>
            <a:endParaRPr lang="en-US" sz="882" b="0" kern="1200" dirty="0">
              <a:solidFill>
                <a:schemeClr val="tx1"/>
              </a:solidFill>
              <a:effectLst/>
              <a:latin typeface="Segoe UI" panose="020B0502040204020203" pitchFamily="34" charset="0"/>
              <a:ea typeface="+mn-ea"/>
              <a:cs typeface="+mn-cs"/>
            </a:endParaRPr>
          </a:p>
        </p:txBody>
      </p:sp>
      <p:sp>
        <p:nvSpPr>
          <p:cNvPr id="4" name="Header Placeholder 3">
            <a:extLst>
              <a:ext uri="{FF2B5EF4-FFF2-40B4-BE49-F238E27FC236}">
                <a16:creationId xmlns:a16="http://schemas.microsoft.com/office/drawing/2014/main" id="{142A6BD3-9CDB-9FF5-5064-A4739D00767D}"/>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588298B1-C469-8467-EEA5-170916464F57}"/>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CE5B9F8F-204C-4AF1-D7FB-0DF2A1D55003}"/>
              </a:ext>
            </a:extLst>
          </p:cNvPr>
          <p:cNvSpPr>
            <a:spLocks noGrp="1"/>
          </p:cNvSpPr>
          <p:nvPr>
            <p:ph type="dt" idx="1"/>
          </p:nvPr>
        </p:nvSpPr>
        <p:spPr/>
        <p:txBody>
          <a:bodyPr/>
          <a:lstStyle/>
          <a:p>
            <a:fld id="{386CE63F-9E7F-4C04-9D0D-FCA25A8E9E86}" type="datetime8">
              <a:rPr lang="en-US" smtClean="0"/>
              <a:t>11/8/2025 1:25 PM</a:t>
            </a:fld>
            <a:endParaRPr lang="en-US"/>
          </a:p>
        </p:txBody>
      </p:sp>
      <p:sp>
        <p:nvSpPr>
          <p:cNvPr id="7" name="Slide Number Placeholder 6">
            <a:extLst>
              <a:ext uri="{FF2B5EF4-FFF2-40B4-BE49-F238E27FC236}">
                <a16:creationId xmlns:a16="http://schemas.microsoft.com/office/drawing/2014/main" id="{FDFC5605-14A9-5EF5-5699-7B7F32DBABEC}"/>
              </a:ext>
            </a:extLst>
          </p:cNvPr>
          <p:cNvSpPr>
            <a:spLocks noGrp="1"/>
          </p:cNvSpPr>
          <p:nvPr>
            <p:ph type="sldNum" sz="quarter" idx="5"/>
          </p:nvPr>
        </p:nvSpPr>
        <p:spPr/>
        <p:txBody>
          <a:bodyPr/>
          <a:lstStyle/>
          <a:p>
            <a:fld id="{B4008EB6-D09E-4580-8CD6-DDB14511944F}" type="slidenum">
              <a:rPr lang="en-US" smtClean="0"/>
              <a:pPr/>
              <a:t>6</a:t>
            </a:fld>
            <a:endParaRPr lang="en-US"/>
          </a:p>
        </p:txBody>
      </p:sp>
    </p:spTree>
    <p:extLst>
      <p:ext uri="{BB962C8B-B14F-4D97-AF65-F5344CB8AC3E}">
        <p14:creationId xmlns:p14="http://schemas.microsoft.com/office/powerpoint/2010/main" val="717890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32061-F560-1891-1C09-2AD4CF0668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020E5785-7218-C016-C210-F1913C80DB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D7B1DDE9-B0F6-E549-44F8-2AE4D4859643}"/>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04183A8E-BB7F-AEA7-2809-72342D773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EEA0021-B7D6-6886-BE3B-719FED3C46FA}"/>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3420706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BD49A-1D1F-A1B4-35AC-EBF1F79EFE8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4B40CDA4-5935-E950-426D-CF35E3D7CC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A1A1350-6557-FFA3-6BC8-C69D37FE99B4}"/>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75B7AFEA-C9AD-AEA4-7AC6-FF6BF1CAE0D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3813EA2-0572-0BB9-1988-1104AEE86ABC}"/>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1508883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067E5-26B8-735E-4665-07AA9B2E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7DAEF26D-329F-3B11-90B8-8EFAF2FED20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BCC879C-C428-7871-5E7E-903467B82C30}"/>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B1D75853-C531-7411-4E67-761FF44AC65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B3BC915-C6CC-10E3-8037-1A6235CD53D9}"/>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4160178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6F2AE-55D3-381D-2406-2A2161CCFE8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CFA0D05-80D3-EDCB-5D87-7CF70F8F7A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FE58BA6-9F78-A6AA-0478-1E9F1E2917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180C1298-4236-6EFC-9526-637FE04192EE}"/>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6" name="Footer Placeholder 5">
            <a:extLst>
              <a:ext uri="{FF2B5EF4-FFF2-40B4-BE49-F238E27FC236}">
                <a16:creationId xmlns:a16="http://schemas.microsoft.com/office/drawing/2014/main" id="{074FF82D-3682-3901-4E3B-CD28DCD01A9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E3F8FA5-9B73-AE2C-99D5-E68A5443D759}"/>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8384404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31F0C-D6EC-C08E-BBA0-6CFB18D4FDA9}"/>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F14D7F88-69E2-363A-80AF-69458E12FE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CAAA09-60EF-A77F-E8DF-5DBE85C11ED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369447F-B2A8-425F-CBE5-05C8FEEB3E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F16B33-A41A-E972-637A-0156DFD87F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E14EACE-BBC3-E3CA-9F9F-4456C0E92861}"/>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8" name="Footer Placeholder 7">
            <a:extLst>
              <a:ext uri="{FF2B5EF4-FFF2-40B4-BE49-F238E27FC236}">
                <a16:creationId xmlns:a16="http://schemas.microsoft.com/office/drawing/2014/main" id="{C027F7E6-EA1C-E59E-660A-468FC28171A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21B518-2796-4F54-7389-DFCDE9605BAF}"/>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2696610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122A-3185-7BA3-1B8C-6414D3BBE711}"/>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7A7DEED6-1CE0-5446-10AA-8985C356E64A}"/>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4" name="Footer Placeholder 3">
            <a:extLst>
              <a:ext uri="{FF2B5EF4-FFF2-40B4-BE49-F238E27FC236}">
                <a16:creationId xmlns:a16="http://schemas.microsoft.com/office/drawing/2014/main" id="{DFF4BE97-9774-20B3-2674-D5549A49FDCA}"/>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ADF0015-B183-CD30-C307-80754AC4F195}"/>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9949736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5CA97F4-DF05-29D6-8B61-C0D0614572ED}"/>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3" name="Footer Placeholder 2">
            <a:extLst>
              <a:ext uri="{FF2B5EF4-FFF2-40B4-BE49-F238E27FC236}">
                <a16:creationId xmlns:a16="http://schemas.microsoft.com/office/drawing/2014/main" id="{00D5779C-7B25-658B-1515-885CFC88BBBE}"/>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5C602EC4-C4D1-7898-3BC6-344622861BB5}"/>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991546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2BF20-C99F-D586-D1F0-732FA2117F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FEF0F32-8821-E4CA-E2AA-D4A7B4AC1B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AFFF4F-1360-58E3-1306-B6D72AF1AB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CBAE94-AD62-2F70-B264-481D253D4406}"/>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6" name="Footer Placeholder 5">
            <a:extLst>
              <a:ext uri="{FF2B5EF4-FFF2-40B4-BE49-F238E27FC236}">
                <a16:creationId xmlns:a16="http://schemas.microsoft.com/office/drawing/2014/main" id="{AAEDC1A2-CFE9-8A7F-79D5-389F5F6A443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11403FF-B67C-099D-8486-3C5B4D15E245}"/>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429130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DF5D8-6DD8-8988-2A73-68548B0F35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207AA4E-554B-D83F-B6EA-EE22DE8AC5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DCF7E160-DD85-09F0-2C7D-C16180C747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8DF372-6886-A900-DC55-5DC290892C0E}"/>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6" name="Footer Placeholder 5">
            <a:extLst>
              <a:ext uri="{FF2B5EF4-FFF2-40B4-BE49-F238E27FC236}">
                <a16:creationId xmlns:a16="http://schemas.microsoft.com/office/drawing/2014/main" id="{E9A0587F-2759-A9E2-8923-E7B85ADD01E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CCFAF61-4CFE-E283-2B1F-A2934A82738B}"/>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2248947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B6B95-DABF-4B81-2A92-7A8BB143A2F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2CD801BC-B180-661D-9DA8-B4D0DBF3BE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7FF92FB-10D7-A974-BC59-29EBF215FCC2}"/>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89CA5B23-12E7-D6A5-FF20-E5B2CC8EEF4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5EF2E86F-F378-D964-5022-6CC69F8C28A7}"/>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2849061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C9015E-5153-258B-56FB-D22A706D171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79ED3D3E-31DB-7835-84EC-DAC2D67673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7AE2B59D-5B5C-079C-096A-777F409A7A05}"/>
              </a:ext>
            </a:extLst>
          </p:cNvPr>
          <p:cNvSpPr>
            <a:spLocks noGrp="1"/>
          </p:cNvSpPr>
          <p:nvPr>
            <p:ph type="dt" sz="half" idx="10"/>
          </p:nvPr>
        </p:nvSpPr>
        <p:spPr/>
        <p:txBody>
          <a:body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80F803A0-5E43-58A5-7211-041E29E226E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DE76A1E-B164-4852-A139-9275AC365E26}"/>
              </a:ext>
            </a:extLst>
          </p:cNvPr>
          <p:cNvSpPr>
            <a:spLocks noGrp="1"/>
          </p:cNvSpPr>
          <p:nvPr>
            <p:ph type="sldNum" sz="quarter" idx="12"/>
          </p:nvPr>
        </p:nvSpPr>
        <p:spPr/>
        <p:txBody>
          <a:bodyPr/>
          <a:lstStyle/>
          <a:p>
            <a:fld id="{F03FE4DE-4D06-4595-A549-91BCEF1CA1BD}" type="slidenum">
              <a:rPr lang="en-AU" smtClean="0"/>
              <a:t>‹#›</a:t>
            </a:fld>
            <a:endParaRPr lang="en-AU"/>
          </a:p>
        </p:txBody>
      </p:sp>
    </p:spTree>
    <p:extLst>
      <p:ext uri="{BB962C8B-B14F-4D97-AF65-F5344CB8AC3E}">
        <p14:creationId xmlns:p14="http://schemas.microsoft.com/office/powerpoint/2010/main" val="40169171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FF1A14-A363-BCC1-5EDA-CDF89600E1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9FD2540-467A-C6F9-2823-DD21ADC0996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778B39E-ED58-EA5D-2FB1-AFB20FDFD5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662DCD5-2B82-4D20-85CF-992EA875ACA0}" type="datetimeFigureOut">
              <a:rPr lang="en-AU" smtClean="0"/>
              <a:t>8/11/2025</a:t>
            </a:fld>
            <a:endParaRPr lang="en-AU"/>
          </a:p>
        </p:txBody>
      </p:sp>
      <p:sp>
        <p:nvSpPr>
          <p:cNvPr id="5" name="Footer Placeholder 4">
            <a:extLst>
              <a:ext uri="{FF2B5EF4-FFF2-40B4-BE49-F238E27FC236}">
                <a16:creationId xmlns:a16="http://schemas.microsoft.com/office/drawing/2014/main" id="{AE70F943-5051-62D1-2C1B-847724710D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AA521D25-4E62-596F-81BE-C6D56A9DA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3FE4DE-4D06-4595-A549-91BCEF1CA1BD}" type="slidenum">
              <a:rPr lang="en-AU" smtClean="0"/>
              <a:t>‹#›</a:t>
            </a:fld>
            <a:endParaRPr lang="en-AU"/>
          </a:p>
        </p:txBody>
      </p:sp>
    </p:spTree>
    <p:extLst>
      <p:ext uri="{BB962C8B-B14F-4D97-AF65-F5344CB8AC3E}">
        <p14:creationId xmlns:p14="http://schemas.microsoft.com/office/powerpoint/2010/main" val="27742243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36DA-A183-D77A-C3C8-39EBE965DE64}"/>
              </a:ext>
            </a:extLst>
          </p:cNvPr>
          <p:cNvSpPr>
            <a:spLocks noGrp="1"/>
          </p:cNvSpPr>
          <p:nvPr>
            <p:ph type="ctrTitle"/>
          </p:nvPr>
        </p:nvSpPr>
        <p:spPr/>
        <p:txBody>
          <a:bodyPr/>
          <a:lstStyle/>
          <a:p>
            <a:endParaRPr lang="en-AU"/>
          </a:p>
        </p:txBody>
      </p:sp>
      <p:sp>
        <p:nvSpPr>
          <p:cNvPr id="3" name="Subtitle 2">
            <a:extLst>
              <a:ext uri="{FF2B5EF4-FFF2-40B4-BE49-F238E27FC236}">
                <a16:creationId xmlns:a16="http://schemas.microsoft.com/office/drawing/2014/main" id="{0BEBA5DF-ED76-FACC-E484-3B62AA3CAB47}"/>
              </a:ext>
            </a:extLst>
          </p:cNvPr>
          <p:cNvSpPr>
            <a:spLocks noGrp="1"/>
          </p:cNvSpPr>
          <p:nvPr>
            <p:ph type="subTitle" idx="1"/>
          </p:nvPr>
        </p:nvSpPr>
        <p:spPr/>
        <p:txBody>
          <a:bodyPr/>
          <a:lstStyle/>
          <a:p>
            <a:endParaRPr lang="en-AU"/>
          </a:p>
        </p:txBody>
      </p:sp>
    </p:spTree>
    <p:extLst>
      <p:ext uri="{BB962C8B-B14F-4D97-AF65-F5344CB8AC3E}">
        <p14:creationId xmlns:p14="http://schemas.microsoft.com/office/powerpoint/2010/main" val="1428880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98FC4AEB-4726-F24E-51ED-5E5780885814}"/>
              </a:ext>
            </a:extLst>
          </p:cNvPr>
          <p:cNvCxnSpPr>
            <a:cxnSpLocks/>
          </p:cNvCxnSpPr>
          <p:nvPr/>
        </p:nvCxnSpPr>
        <p:spPr>
          <a:xfrm>
            <a:off x="5610313" y="1734061"/>
            <a:ext cx="0" cy="288544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00B3078C-D6C0-11AE-ED7C-89E40C431E79}"/>
              </a:ext>
            </a:extLst>
          </p:cNvPr>
          <p:cNvCxnSpPr/>
          <p:nvPr/>
        </p:nvCxnSpPr>
        <p:spPr>
          <a:xfrm>
            <a:off x="5062045" y="2242145"/>
            <a:ext cx="5070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Rectangle 4">
            <a:extLst>
              <a:ext uri="{FF2B5EF4-FFF2-40B4-BE49-F238E27FC236}">
                <a16:creationId xmlns:a16="http://schemas.microsoft.com/office/drawing/2014/main" id="{4D9F3B2D-ED91-4760-1C61-6122EB0A4FAC}"/>
              </a:ext>
            </a:extLst>
          </p:cNvPr>
          <p:cNvSpPr/>
          <p:nvPr/>
        </p:nvSpPr>
        <p:spPr>
          <a:xfrm>
            <a:off x="3836490" y="1964110"/>
            <a:ext cx="1249680" cy="59055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Text Input</a:t>
            </a:r>
            <a:endParaRPr lang="en-AU" sz="1600" dirty="0">
              <a:solidFill>
                <a:schemeClr val="tx1"/>
              </a:solidFill>
              <a:latin typeface="Comic Sans MS" panose="030F0702030302020204" pitchFamily="66" charset="0"/>
            </a:endParaRPr>
          </a:p>
        </p:txBody>
      </p:sp>
      <p:sp>
        <p:nvSpPr>
          <p:cNvPr id="6" name="Arrow: Right 5">
            <a:extLst>
              <a:ext uri="{FF2B5EF4-FFF2-40B4-BE49-F238E27FC236}">
                <a16:creationId xmlns:a16="http://schemas.microsoft.com/office/drawing/2014/main" id="{BAF97533-8DDA-419F-DA68-5FC359D7BE8A}"/>
              </a:ext>
            </a:extLst>
          </p:cNvPr>
          <p:cNvSpPr/>
          <p:nvPr/>
        </p:nvSpPr>
        <p:spPr>
          <a:xfrm>
            <a:off x="7600504" y="2974387"/>
            <a:ext cx="417732" cy="320726"/>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itle 5">
            <a:extLst>
              <a:ext uri="{FF2B5EF4-FFF2-40B4-BE49-F238E27FC236}">
                <a16:creationId xmlns:a16="http://schemas.microsoft.com/office/drawing/2014/main" id="{83F85761-EEC3-0F92-DA25-581187D0A726}"/>
              </a:ext>
            </a:extLst>
          </p:cNvPr>
          <p:cNvSpPr txBox="1">
            <a:spLocks/>
          </p:cNvSpPr>
          <p:nvPr/>
        </p:nvSpPr>
        <p:spPr>
          <a:xfrm>
            <a:off x="390354" y="224883"/>
            <a:ext cx="10084739" cy="55399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R="0" lvl="0" indent="0" algn="l" defTabSz="1371600" rtl="0" eaLnBrk="1" fontAlgn="auto" latinLnBrk="0" hangingPunct="1">
              <a:lnSpc>
                <a:spcPct val="100000"/>
              </a:lnSpc>
              <a:spcBef>
                <a:spcPts val="0"/>
              </a:spcBef>
              <a:spcAft>
                <a:spcPts val="0"/>
              </a:spcAft>
              <a:buClrTx/>
              <a:buSzTx/>
              <a:buFontTx/>
              <a:buNone/>
              <a:tabLst>
                <a:tab pos="1371600" algn="l"/>
              </a:tabLst>
              <a:defRPr kumimoji="0" lang="en-US" sz="2400" b="0" i="0" u="none" strike="noStrike" kern="1200" cap="none" spc="0" normalizeH="0" baseline="0">
                <a:ln w="3175">
                  <a:noFill/>
                </a:ln>
                <a:gradFill>
                  <a:gsLst>
                    <a:gs pos="0">
                      <a:srgbClr val="FFA38B"/>
                    </a:gs>
                    <a:gs pos="32000">
                      <a:srgbClr val="D59ED7"/>
                    </a:gs>
                    <a:gs pos="68000">
                      <a:srgbClr val="8DC8E8"/>
                    </a:gs>
                    <a:gs pos="100000">
                      <a:srgbClr val="49C5B1"/>
                    </a:gs>
                  </a:gsLst>
                  <a:path path="circle">
                    <a:fillToRect l="100000" t="100000"/>
                  </a:path>
                </a:gradFill>
                <a:effectLst/>
                <a:uLnTx/>
                <a:uFillTx/>
                <a:latin typeface="+mj-lt"/>
                <a:ea typeface="+mn-ea"/>
                <a:cs typeface="Segoe UI" panose="020B0502040204020203" pitchFamily="34" charset="0"/>
              </a:defRPr>
            </a:lvl1pPr>
            <a:lvl2pPr marL="457200" defTabSz="914400">
              <a:defRPr sz="1800"/>
            </a:lvl2pPr>
            <a:lvl3pPr marL="914400" defTabSz="914400">
              <a:defRPr sz="1800"/>
            </a:lvl3pPr>
            <a:lvl4pPr marL="1371600" defTabSz="914400">
              <a:defRPr sz="1800"/>
            </a:lvl4pPr>
            <a:lvl5pPr marL="1828800" defTabSz="914400">
              <a:defRPr sz="1800"/>
            </a:lvl5pPr>
            <a:lvl6pPr marL="2286000" defTabSz="914400">
              <a:defRPr sz="1800"/>
            </a:lvl6pPr>
            <a:lvl7pPr marL="2743200" defTabSz="914400">
              <a:defRPr sz="1800"/>
            </a:lvl7pPr>
            <a:lvl8pPr marL="3200400" defTabSz="914400">
              <a:defRPr sz="1800"/>
            </a:lvl8pPr>
            <a:lvl9pPr marL="3657600" defTabSz="914400">
              <a:defRPr sz="1800"/>
            </a:lvl9pPr>
          </a:lstStyle>
          <a:p>
            <a:pPr>
              <a:defRPr/>
            </a:pPr>
            <a:r>
              <a:rPr lang="en-US" sz="3600" dirty="0">
                <a:solidFill>
                  <a:schemeClr val="tx1"/>
                </a:solidFill>
              </a:rPr>
              <a:t>Model Context Protocol (MCP) Execution Flow</a:t>
            </a:r>
            <a:endParaRPr lang="en-US" sz="3600" b="1" spc="-50" dirty="0">
              <a:solidFill>
                <a:srgbClr val="8CADC6"/>
              </a:solidFill>
              <a:latin typeface="Segoe UI Semibold"/>
              <a:cs typeface="Segoe UI Semibold"/>
            </a:endParaRPr>
          </a:p>
        </p:txBody>
      </p:sp>
      <p:sp>
        <p:nvSpPr>
          <p:cNvPr id="9" name="Rectangle 8">
            <a:extLst>
              <a:ext uri="{FF2B5EF4-FFF2-40B4-BE49-F238E27FC236}">
                <a16:creationId xmlns:a16="http://schemas.microsoft.com/office/drawing/2014/main" id="{A371F66F-12BA-F611-AFDD-2345508E3E64}"/>
              </a:ext>
            </a:extLst>
          </p:cNvPr>
          <p:cNvSpPr/>
          <p:nvPr/>
        </p:nvSpPr>
        <p:spPr>
          <a:xfrm>
            <a:off x="10077443" y="2863281"/>
            <a:ext cx="1249680" cy="590550"/>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Text Output</a:t>
            </a:r>
            <a:endParaRPr lang="en-AU" sz="1400" dirty="0">
              <a:solidFill>
                <a:schemeClr val="tx1"/>
              </a:solidFill>
              <a:latin typeface="Comic Sans MS" panose="030F0702030302020204" pitchFamily="66" charset="0"/>
            </a:endParaRPr>
          </a:p>
        </p:txBody>
      </p:sp>
      <p:sp>
        <p:nvSpPr>
          <p:cNvPr id="10" name="Arrow: Right 9">
            <a:extLst>
              <a:ext uri="{FF2B5EF4-FFF2-40B4-BE49-F238E27FC236}">
                <a16:creationId xmlns:a16="http://schemas.microsoft.com/office/drawing/2014/main" id="{1FD90FF3-8436-C58C-7A6E-CE994B806103}"/>
              </a:ext>
            </a:extLst>
          </p:cNvPr>
          <p:cNvSpPr/>
          <p:nvPr/>
        </p:nvSpPr>
        <p:spPr>
          <a:xfrm>
            <a:off x="9466510" y="2998193"/>
            <a:ext cx="409899" cy="320726"/>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 name="Rectangle 10">
            <a:extLst>
              <a:ext uri="{FF2B5EF4-FFF2-40B4-BE49-F238E27FC236}">
                <a16:creationId xmlns:a16="http://schemas.microsoft.com/office/drawing/2014/main" id="{FD2FA0A9-D86E-5B59-F59C-5BADA380F5CC}"/>
              </a:ext>
            </a:extLst>
          </p:cNvPr>
          <p:cNvSpPr/>
          <p:nvPr/>
        </p:nvSpPr>
        <p:spPr>
          <a:xfrm>
            <a:off x="8161244" y="2720719"/>
            <a:ext cx="1249680" cy="87553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solidFill>
                <a:latin typeface="Comic Sans MS" panose="030F0702030302020204" pitchFamily="66" charset="0"/>
              </a:rPr>
              <a:t>Large Language Model</a:t>
            </a:r>
            <a:endParaRPr lang="en-AU" sz="1400" b="1" dirty="0">
              <a:solidFill>
                <a:schemeClr val="tx1"/>
              </a:solidFill>
              <a:latin typeface="Comic Sans MS" panose="030F0702030302020204" pitchFamily="66" charset="0"/>
            </a:endParaRPr>
          </a:p>
        </p:txBody>
      </p:sp>
      <p:cxnSp>
        <p:nvCxnSpPr>
          <p:cNvPr id="12" name="Connector: Curved 11">
            <a:extLst>
              <a:ext uri="{FF2B5EF4-FFF2-40B4-BE49-F238E27FC236}">
                <a16:creationId xmlns:a16="http://schemas.microsoft.com/office/drawing/2014/main" id="{3493E9ED-D22F-9EBF-8B7A-9220264E760C}"/>
              </a:ext>
            </a:extLst>
          </p:cNvPr>
          <p:cNvCxnSpPr>
            <a:cxnSpLocks/>
            <a:endCxn id="44" idx="0"/>
          </p:cNvCxnSpPr>
          <p:nvPr/>
        </p:nvCxnSpPr>
        <p:spPr>
          <a:xfrm rot="16200000" flipV="1">
            <a:off x="8770691" y="812931"/>
            <a:ext cx="161503" cy="3939198"/>
          </a:xfrm>
          <a:prstGeom prst="curvedConnector3">
            <a:avLst>
              <a:gd name="adj1" fmla="val 487870"/>
            </a:avLst>
          </a:prstGeom>
          <a:ln w="38100">
            <a:solidFill>
              <a:schemeClr val="tx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E417C912-0D77-C014-35C7-CC0343FF9ADE}"/>
              </a:ext>
            </a:extLst>
          </p:cNvPr>
          <p:cNvSpPr/>
          <p:nvPr/>
        </p:nvSpPr>
        <p:spPr>
          <a:xfrm>
            <a:off x="2416628" y="3215674"/>
            <a:ext cx="2610303" cy="1124924"/>
          </a:xfrm>
          <a:prstGeom prst="rect">
            <a:avLst/>
          </a:prstGeom>
          <a:solidFill>
            <a:schemeClr val="bg1"/>
          </a:solidFill>
          <a:ln w="9525">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AU" sz="1400" b="1" dirty="0">
              <a:solidFill>
                <a:schemeClr val="tx1"/>
              </a:solidFill>
              <a:latin typeface="Comic Sans MS" panose="030F0702030302020204" pitchFamily="66" charset="0"/>
            </a:endParaRPr>
          </a:p>
        </p:txBody>
      </p:sp>
      <p:sp>
        <p:nvSpPr>
          <p:cNvPr id="14" name="Rectangle 13">
            <a:extLst>
              <a:ext uri="{FF2B5EF4-FFF2-40B4-BE49-F238E27FC236}">
                <a16:creationId xmlns:a16="http://schemas.microsoft.com/office/drawing/2014/main" id="{EFE14B89-2908-42C6-22EA-0895CAFC78AD}"/>
              </a:ext>
            </a:extLst>
          </p:cNvPr>
          <p:cNvSpPr/>
          <p:nvPr/>
        </p:nvSpPr>
        <p:spPr>
          <a:xfrm>
            <a:off x="2517794" y="3852745"/>
            <a:ext cx="1185144" cy="386162"/>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err="1">
                <a:solidFill>
                  <a:schemeClr val="tx1"/>
                </a:solidFill>
                <a:latin typeface="Comic Sans MS" panose="030F0702030302020204" pitchFamily="66" charset="0"/>
              </a:rPr>
              <a:t>search_bikes</a:t>
            </a:r>
            <a:endParaRPr lang="en-AU" sz="1100" dirty="0">
              <a:solidFill>
                <a:schemeClr val="tx1"/>
              </a:solidFill>
              <a:latin typeface="Comic Sans MS" panose="030F0702030302020204" pitchFamily="66" charset="0"/>
            </a:endParaRPr>
          </a:p>
        </p:txBody>
      </p:sp>
      <p:sp>
        <p:nvSpPr>
          <p:cNvPr id="15" name="Rectangle 14">
            <a:extLst>
              <a:ext uri="{FF2B5EF4-FFF2-40B4-BE49-F238E27FC236}">
                <a16:creationId xmlns:a16="http://schemas.microsoft.com/office/drawing/2014/main" id="{8F4CEF61-4C95-817C-A938-8274310B6C7B}"/>
              </a:ext>
            </a:extLst>
          </p:cNvPr>
          <p:cNvSpPr/>
          <p:nvPr/>
        </p:nvSpPr>
        <p:spPr>
          <a:xfrm>
            <a:off x="2986352" y="3316837"/>
            <a:ext cx="1474978" cy="362256"/>
          </a:xfrm>
          <a:prstGeom prst="rect">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Comic Sans MS" panose="030F0702030302020204" pitchFamily="66" charset="0"/>
              </a:rPr>
              <a:t>Tools</a:t>
            </a:r>
            <a:endParaRPr lang="en-AU" sz="1400" b="1" dirty="0">
              <a:solidFill>
                <a:schemeClr val="bg1"/>
              </a:solidFill>
              <a:latin typeface="Comic Sans MS" panose="030F0702030302020204" pitchFamily="66" charset="0"/>
            </a:endParaRPr>
          </a:p>
        </p:txBody>
      </p:sp>
      <p:sp>
        <p:nvSpPr>
          <p:cNvPr id="16" name="Rectangle 15">
            <a:extLst>
              <a:ext uri="{FF2B5EF4-FFF2-40B4-BE49-F238E27FC236}">
                <a16:creationId xmlns:a16="http://schemas.microsoft.com/office/drawing/2014/main" id="{9F7ADF34-15B2-1C9A-D142-ECFEC199CE9D}"/>
              </a:ext>
            </a:extLst>
          </p:cNvPr>
          <p:cNvSpPr/>
          <p:nvPr/>
        </p:nvSpPr>
        <p:spPr>
          <a:xfrm>
            <a:off x="3836490" y="3852745"/>
            <a:ext cx="1090812" cy="38616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err="1">
                <a:solidFill>
                  <a:srgbClr val="0070C0"/>
                </a:solidFill>
                <a:latin typeface="Comic Sans MS" panose="030F0702030302020204" pitchFamily="66" charset="0"/>
              </a:rPr>
              <a:t>submit_order</a:t>
            </a:r>
            <a:endParaRPr lang="en-AU" sz="1100" dirty="0">
              <a:solidFill>
                <a:srgbClr val="0070C0"/>
              </a:solidFill>
              <a:latin typeface="Comic Sans MS" panose="030F0702030302020204" pitchFamily="66" charset="0"/>
            </a:endParaRPr>
          </a:p>
        </p:txBody>
      </p:sp>
      <p:sp>
        <p:nvSpPr>
          <p:cNvPr id="17" name="Arrow: Right 16">
            <a:extLst>
              <a:ext uri="{FF2B5EF4-FFF2-40B4-BE49-F238E27FC236}">
                <a16:creationId xmlns:a16="http://schemas.microsoft.com/office/drawing/2014/main" id="{23B4A5D0-5C4E-104C-498D-48B392B678FE}"/>
              </a:ext>
            </a:extLst>
          </p:cNvPr>
          <p:cNvSpPr/>
          <p:nvPr/>
        </p:nvSpPr>
        <p:spPr>
          <a:xfrm>
            <a:off x="5685797" y="2957063"/>
            <a:ext cx="485546" cy="336158"/>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9" name="Connector: Curved 18">
            <a:extLst>
              <a:ext uri="{FF2B5EF4-FFF2-40B4-BE49-F238E27FC236}">
                <a16:creationId xmlns:a16="http://schemas.microsoft.com/office/drawing/2014/main" id="{4B451167-5AE9-0349-D19B-E80A95082BB4}"/>
              </a:ext>
            </a:extLst>
          </p:cNvPr>
          <p:cNvCxnSpPr>
            <a:cxnSpLocks/>
          </p:cNvCxnSpPr>
          <p:nvPr/>
        </p:nvCxnSpPr>
        <p:spPr>
          <a:xfrm rot="5400000">
            <a:off x="6329584" y="4483673"/>
            <a:ext cx="1654450" cy="201"/>
          </a:xfrm>
          <a:prstGeom prst="curvedConnector3">
            <a:avLst>
              <a:gd name="adj1" fmla="val 50000"/>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4EB653B-3ECB-C800-C117-5049668112C4}"/>
              </a:ext>
            </a:extLst>
          </p:cNvPr>
          <p:cNvCxnSpPr/>
          <p:nvPr/>
        </p:nvCxnSpPr>
        <p:spPr>
          <a:xfrm>
            <a:off x="5103259" y="3769430"/>
            <a:ext cx="5070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08E78FBE-4A0B-3505-1070-BEDF0149F8FD}"/>
              </a:ext>
            </a:extLst>
          </p:cNvPr>
          <p:cNvSpPr txBox="1"/>
          <p:nvPr/>
        </p:nvSpPr>
        <p:spPr>
          <a:xfrm>
            <a:off x="8020741" y="1610951"/>
            <a:ext cx="1434688" cy="276999"/>
          </a:xfrm>
          <a:prstGeom prst="rect">
            <a:avLst/>
          </a:prstGeom>
          <a:noFill/>
        </p:spPr>
        <p:txBody>
          <a:bodyPr wrap="none" lIns="0" tIns="0" rIns="0" bIns="0" rtlCol="0">
            <a:spAutoFit/>
          </a:bodyPr>
          <a:lstStyle/>
          <a:p>
            <a:pPr algn="l"/>
            <a:r>
              <a:rPr lang="en-US" sz="1800" b="1" dirty="0">
                <a:solidFill>
                  <a:srgbClr val="2A446F"/>
                </a:solidFill>
                <a:latin typeface="Comic Sans MS" panose="030F0702030302020204" pitchFamily="66" charset="0"/>
              </a:rPr>
              <a:t>Tool Request</a:t>
            </a:r>
          </a:p>
        </p:txBody>
      </p:sp>
      <p:cxnSp>
        <p:nvCxnSpPr>
          <p:cNvPr id="28" name="Connector: Curved 27">
            <a:extLst>
              <a:ext uri="{FF2B5EF4-FFF2-40B4-BE49-F238E27FC236}">
                <a16:creationId xmlns:a16="http://schemas.microsoft.com/office/drawing/2014/main" id="{9433E52F-B776-BB9C-6532-17F781638FBC}"/>
              </a:ext>
            </a:extLst>
          </p:cNvPr>
          <p:cNvCxnSpPr>
            <a:cxnSpLocks/>
            <a:endCxn id="16" idx="2"/>
          </p:cNvCxnSpPr>
          <p:nvPr/>
        </p:nvCxnSpPr>
        <p:spPr>
          <a:xfrm rot="10800000">
            <a:off x="4381896" y="4238906"/>
            <a:ext cx="2713616" cy="1017666"/>
          </a:xfrm>
          <a:prstGeom prst="curvedConnector2">
            <a:avLst/>
          </a:prstGeom>
          <a:ln w="38100">
            <a:solidFill>
              <a:schemeClr val="tx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49FA7722-9932-7418-3A35-A00D1010412D}"/>
              </a:ext>
            </a:extLst>
          </p:cNvPr>
          <p:cNvSpPr/>
          <p:nvPr/>
        </p:nvSpPr>
        <p:spPr>
          <a:xfrm>
            <a:off x="6257003" y="2701778"/>
            <a:ext cx="1249680" cy="875537"/>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tx1"/>
                </a:solidFill>
                <a:latin typeface="Comic Sans MS" panose="030F0702030302020204" pitchFamily="66" charset="0"/>
              </a:rPr>
              <a:t>AI Application</a:t>
            </a:r>
          </a:p>
        </p:txBody>
      </p:sp>
      <p:sp>
        <p:nvSpPr>
          <p:cNvPr id="54" name="Rectangle 53">
            <a:extLst>
              <a:ext uri="{FF2B5EF4-FFF2-40B4-BE49-F238E27FC236}">
                <a16:creationId xmlns:a16="http://schemas.microsoft.com/office/drawing/2014/main" id="{81454B9C-AC76-15A5-CC96-4DC0A0C743E4}"/>
              </a:ext>
            </a:extLst>
          </p:cNvPr>
          <p:cNvSpPr/>
          <p:nvPr/>
        </p:nvSpPr>
        <p:spPr>
          <a:xfrm>
            <a:off x="6436615" y="1440472"/>
            <a:ext cx="1317794" cy="386161"/>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0070C0"/>
                </a:solidFill>
                <a:latin typeface="Comic Sans MS" panose="030F0702030302020204" pitchFamily="66" charset="0"/>
              </a:rPr>
              <a:t>structured data</a:t>
            </a:r>
            <a:endParaRPr lang="en-AU" sz="1100" dirty="0">
              <a:solidFill>
                <a:srgbClr val="0070C0"/>
              </a:solidFill>
              <a:latin typeface="Comic Sans MS" panose="030F0702030302020204" pitchFamily="66" charset="0"/>
            </a:endParaRPr>
          </a:p>
        </p:txBody>
      </p:sp>
    </p:spTree>
    <p:extLst>
      <p:ext uri="{BB962C8B-B14F-4D97-AF65-F5344CB8AC3E}">
        <p14:creationId xmlns:p14="http://schemas.microsoft.com/office/powerpoint/2010/main" val="8298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42" presetClass="path" presetSubtype="0" decel="100000" fill="hold" grpId="1" nodeType="withEffect">
                                  <p:stCondLst>
                                    <p:cond delay="50"/>
                                  </p:stCondLst>
                                  <p:childTnLst>
                                    <p:animMotion origin="layout" path="M 4.16667E-6 2.22222E-6 L 4.16667E-6 0.03541 " pathEditMode="relative" rAng="0" ptsTypes="AA">
                                      <p:cBhvr>
                                        <p:cTn id="9" dur="700" spd="-100000" fill="hold"/>
                                        <p:tgtEl>
                                          <p:spTgt spid="7"/>
                                        </p:tgtEl>
                                        <p:attrNameLst>
                                          <p:attrName>ppt_x</p:attrName>
                                          <p:attrName>ppt_y</p:attrName>
                                        </p:attrNameLst>
                                      </p:cBhvr>
                                      <p:rCtr x="0" y="175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25D8615-A52C-821D-8A63-73BD8C14E777}"/>
              </a:ext>
            </a:extLst>
          </p:cNvPr>
          <p:cNvSpPr/>
          <p:nvPr/>
        </p:nvSpPr>
        <p:spPr>
          <a:xfrm>
            <a:off x="4524374" y="1087451"/>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System Instructions</a:t>
            </a:r>
            <a:endParaRPr lang="en-AU" sz="1400" dirty="0">
              <a:solidFill>
                <a:schemeClr val="tx1"/>
              </a:solidFill>
              <a:latin typeface="Comic Sans MS" panose="030F0702030302020204" pitchFamily="66" charset="0"/>
            </a:endParaRPr>
          </a:p>
        </p:txBody>
      </p:sp>
      <p:sp>
        <p:nvSpPr>
          <p:cNvPr id="3" name="Rectangle 2">
            <a:extLst>
              <a:ext uri="{FF2B5EF4-FFF2-40B4-BE49-F238E27FC236}">
                <a16:creationId xmlns:a16="http://schemas.microsoft.com/office/drawing/2014/main" id="{D9B4C143-17C1-E959-0D99-2B6297D6F036}"/>
              </a:ext>
            </a:extLst>
          </p:cNvPr>
          <p:cNvSpPr/>
          <p:nvPr/>
        </p:nvSpPr>
        <p:spPr>
          <a:xfrm>
            <a:off x="3954075" y="1910411"/>
            <a:ext cx="1857375" cy="98679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Comic Sans MS" panose="030F0702030302020204" pitchFamily="66" charset="0"/>
              </a:rPr>
              <a:t>Primary Content</a:t>
            </a:r>
            <a:endParaRPr lang="en-AU" b="1" dirty="0">
              <a:solidFill>
                <a:schemeClr val="tx1"/>
              </a:solidFill>
              <a:latin typeface="Comic Sans MS" panose="030F0702030302020204" pitchFamily="66" charset="0"/>
            </a:endParaRPr>
          </a:p>
        </p:txBody>
      </p:sp>
      <p:pic>
        <p:nvPicPr>
          <p:cNvPr id="5" name="Picture 4">
            <a:extLst>
              <a:ext uri="{FF2B5EF4-FFF2-40B4-BE49-F238E27FC236}">
                <a16:creationId xmlns:a16="http://schemas.microsoft.com/office/drawing/2014/main" id="{B06FA3FC-A3A1-3DB4-4B65-37C7D5FEADFE}"/>
              </a:ext>
            </a:extLst>
          </p:cNvPr>
          <p:cNvPicPr>
            <a:picLocks noChangeAspect="1"/>
          </p:cNvPicPr>
          <p:nvPr/>
        </p:nvPicPr>
        <p:blipFill>
          <a:blip r:embed="rId2"/>
          <a:stretch>
            <a:fillRect/>
          </a:stretch>
        </p:blipFill>
        <p:spPr>
          <a:xfrm>
            <a:off x="7560042" y="2230450"/>
            <a:ext cx="1596150" cy="1610029"/>
          </a:xfrm>
          <a:prstGeom prst="rect">
            <a:avLst/>
          </a:prstGeom>
        </p:spPr>
      </p:pic>
      <p:cxnSp>
        <p:nvCxnSpPr>
          <p:cNvPr id="7" name="Straight Connector 6">
            <a:extLst>
              <a:ext uri="{FF2B5EF4-FFF2-40B4-BE49-F238E27FC236}">
                <a16:creationId xmlns:a16="http://schemas.microsoft.com/office/drawing/2014/main" id="{4C151CED-F2E0-C26D-EC35-1338B0ADF27E}"/>
              </a:ext>
            </a:extLst>
          </p:cNvPr>
          <p:cNvCxnSpPr>
            <a:cxnSpLocks/>
          </p:cNvCxnSpPr>
          <p:nvPr/>
        </p:nvCxnSpPr>
        <p:spPr>
          <a:xfrm>
            <a:off x="6400800" y="621792"/>
            <a:ext cx="0" cy="5559552"/>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DF2E6D86-F300-3C99-7864-B18FF1FED4A7}"/>
              </a:ext>
            </a:extLst>
          </p:cNvPr>
          <p:cNvCxnSpPr/>
          <p:nvPr/>
        </p:nvCxnSpPr>
        <p:spPr>
          <a:xfrm>
            <a:off x="5811450" y="1371600"/>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9C4B4E21-BCCF-730A-026D-C91EC97083F2}"/>
              </a:ext>
            </a:extLst>
          </p:cNvPr>
          <p:cNvCxnSpPr/>
          <p:nvPr/>
        </p:nvCxnSpPr>
        <p:spPr>
          <a:xfrm>
            <a:off x="5811450" y="2374392"/>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49BF86C-F23D-F49D-7A87-96403DDDD373}"/>
              </a:ext>
            </a:extLst>
          </p:cNvPr>
          <p:cNvCxnSpPr/>
          <p:nvPr/>
        </p:nvCxnSpPr>
        <p:spPr>
          <a:xfrm>
            <a:off x="5811450" y="343742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3458C137-40A5-4549-903A-59BC3D940F4D}"/>
              </a:ext>
            </a:extLst>
          </p:cNvPr>
          <p:cNvSpPr/>
          <p:nvPr/>
        </p:nvSpPr>
        <p:spPr>
          <a:xfrm>
            <a:off x="4520240" y="3145193"/>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Tools</a:t>
            </a:r>
            <a:endParaRPr lang="en-AU" sz="1600" dirty="0">
              <a:solidFill>
                <a:schemeClr val="tx1"/>
              </a:solidFill>
              <a:latin typeface="Comic Sans MS" panose="030F0702030302020204" pitchFamily="66" charset="0"/>
            </a:endParaRPr>
          </a:p>
        </p:txBody>
      </p:sp>
      <p:sp>
        <p:nvSpPr>
          <p:cNvPr id="13" name="Rectangle 12">
            <a:extLst>
              <a:ext uri="{FF2B5EF4-FFF2-40B4-BE49-F238E27FC236}">
                <a16:creationId xmlns:a16="http://schemas.microsoft.com/office/drawing/2014/main" id="{14E8DF0E-90E2-E0B6-EE64-952F821D897E}"/>
              </a:ext>
            </a:extLst>
          </p:cNvPr>
          <p:cNvSpPr/>
          <p:nvPr/>
        </p:nvSpPr>
        <p:spPr>
          <a:xfrm>
            <a:off x="4087372" y="4202849"/>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Input &amp; Output Samples</a:t>
            </a:r>
            <a:endParaRPr lang="en-AU" sz="1400" dirty="0">
              <a:solidFill>
                <a:schemeClr val="tx1"/>
              </a:solidFill>
              <a:latin typeface="Comic Sans MS" panose="030F0702030302020204" pitchFamily="66" charset="0"/>
            </a:endParaRPr>
          </a:p>
        </p:txBody>
      </p:sp>
      <p:sp>
        <p:nvSpPr>
          <p:cNvPr id="14" name="Rectangle 13">
            <a:extLst>
              <a:ext uri="{FF2B5EF4-FFF2-40B4-BE49-F238E27FC236}">
                <a16:creationId xmlns:a16="http://schemas.microsoft.com/office/drawing/2014/main" id="{A9AFF604-6C34-00E2-9991-834C6BD5A249}"/>
              </a:ext>
            </a:extLst>
          </p:cNvPr>
          <p:cNvSpPr/>
          <p:nvPr/>
        </p:nvSpPr>
        <p:spPr>
          <a:xfrm>
            <a:off x="4128902" y="5148757"/>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Supporting Data</a:t>
            </a:r>
            <a:endParaRPr lang="en-AU" sz="1400" dirty="0">
              <a:solidFill>
                <a:schemeClr val="tx1"/>
              </a:solidFill>
              <a:latin typeface="Comic Sans MS" panose="030F0702030302020204" pitchFamily="66" charset="0"/>
            </a:endParaRPr>
          </a:p>
        </p:txBody>
      </p:sp>
      <p:cxnSp>
        <p:nvCxnSpPr>
          <p:cNvPr id="16" name="Straight Connector 15">
            <a:extLst>
              <a:ext uri="{FF2B5EF4-FFF2-40B4-BE49-F238E27FC236}">
                <a16:creationId xmlns:a16="http://schemas.microsoft.com/office/drawing/2014/main" id="{1BB849F6-20B2-72AC-0C55-EFE8EB545CAA}"/>
              </a:ext>
            </a:extLst>
          </p:cNvPr>
          <p:cNvCxnSpPr/>
          <p:nvPr/>
        </p:nvCxnSpPr>
        <p:spPr>
          <a:xfrm>
            <a:off x="5811450" y="4503496"/>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C57B846-7257-D46D-B320-4CC56D95DCF8}"/>
              </a:ext>
            </a:extLst>
          </p:cNvPr>
          <p:cNvCxnSpPr/>
          <p:nvPr/>
        </p:nvCxnSpPr>
        <p:spPr>
          <a:xfrm>
            <a:off x="5893746" y="541820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1DF06518-3B92-E682-1D12-8928DA417679}"/>
              </a:ext>
            </a:extLst>
          </p:cNvPr>
          <p:cNvSpPr/>
          <p:nvPr/>
        </p:nvSpPr>
        <p:spPr>
          <a:xfrm>
            <a:off x="1591054" y="2079117"/>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User Prompt</a:t>
            </a:r>
            <a:endParaRPr lang="en-AU" sz="1600" dirty="0">
              <a:solidFill>
                <a:schemeClr val="tx1"/>
              </a:solidFill>
              <a:latin typeface="Comic Sans MS" panose="030F0702030302020204" pitchFamily="66" charset="0"/>
            </a:endParaRPr>
          </a:p>
        </p:txBody>
      </p:sp>
      <p:sp>
        <p:nvSpPr>
          <p:cNvPr id="19" name="Arrow: Right 18">
            <a:extLst>
              <a:ext uri="{FF2B5EF4-FFF2-40B4-BE49-F238E27FC236}">
                <a16:creationId xmlns:a16="http://schemas.microsoft.com/office/drawing/2014/main" id="{0EE13336-B4C9-E537-6908-CCE3FDE8554F}"/>
              </a:ext>
            </a:extLst>
          </p:cNvPr>
          <p:cNvSpPr/>
          <p:nvPr/>
        </p:nvSpPr>
        <p:spPr>
          <a:xfrm>
            <a:off x="3035808" y="2230450"/>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Arrow: Right 19">
            <a:extLst>
              <a:ext uri="{FF2B5EF4-FFF2-40B4-BE49-F238E27FC236}">
                <a16:creationId xmlns:a16="http://schemas.microsoft.com/office/drawing/2014/main" id="{3B99D5DB-C6DC-D871-6FC9-10ADEF7B4A47}"/>
              </a:ext>
            </a:extLst>
          </p:cNvPr>
          <p:cNvSpPr/>
          <p:nvPr/>
        </p:nvSpPr>
        <p:spPr>
          <a:xfrm>
            <a:off x="6693791" y="2897201"/>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1" name="Rectangle 20">
            <a:extLst>
              <a:ext uri="{FF2B5EF4-FFF2-40B4-BE49-F238E27FC236}">
                <a16:creationId xmlns:a16="http://schemas.microsoft.com/office/drawing/2014/main" id="{111C420B-C650-D4E6-5F0C-6937E6ED8FD7}"/>
              </a:ext>
            </a:extLst>
          </p:cNvPr>
          <p:cNvSpPr/>
          <p:nvPr/>
        </p:nvSpPr>
        <p:spPr>
          <a:xfrm>
            <a:off x="9596246" y="2762289"/>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LLM Response</a:t>
            </a:r>
            <a:endParaRPr lang="en-AU" sz="1400" dirty="0">
              <a:solidFill>
                <a:schemeClr val="tx1"/>
              </a:solidFill>
              <a:latin typeface="Comic Sans MS" panose="030F0702030302020204" pitchFamily="66" charset="0"/>
            </a:endParaRPr>
          </a:p>
        </p:txBody>
      </p:sp>
    </p:spTree>
    <p:extLst>
      <p:ext uri="{BB962C8B-B14F-4D97-AF65-F5344CB8AC3E}">
        <p14:creationId xmlns:p14="http://schemas.microsoft.com/office/powerpoint/2010/main" val="6287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81954-F936-730A-F88F-8057409EEC5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B7792F3-D64D-03C7-BFCC-EE36E74F4012}"/>
              </a:ext>
            </a:extLst>
          </p:cNvPr>
          <p:cNvSpPr/>
          <p:nvPr/>
        </p:nvSpPr>
        <p:spPr>
          <a:xfrm>
            <a:off x="4524374" y="1087451"/>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System Instructions</a:t>
            </a:r>
            <a:endParaRPr lang="en-AU" sz="1400" dirty="0">
              <a:solidFill>
                <a:schemeClr val="tx1"/>
              </a:solidFill>
              <a:latin typeface="Comic Sans MS" panose="030F0702030302020204" pitchFamily="66" charset="0"/>
            </a:endParaRPr>
          </a:p>
        </p:txBody>
      </p:sp>
      <p:sp>
        <p:nvSpPr>
          <p:cNvPr id="3" name="Rectangle 2">
            <a:extLst>
              <a:ext uri="{FF2B5EF4-FFF2-40B4-BE49-F238E27FC236}">
                <a16:creationId xmlns:a16="http://schemas.microsoft.com/office/drawing/2014/main" id="{5291871F-50B3-22D2-EC01-F424783993E6}"/>
              </a:ext>
            </a:extLst>
          </p:cNvPr>
          <p:cNvSpPr/>
          <p:nvPr/>
        </p:nvSpPr>
        <p:spPr>
          <a:xfrm>
            <a:off x="3954075" y="1910411"/>
            <a:ext cx="1857375" cy="98679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Comic Sans MS" panose="030F0702030302020204" pitchFamily="66" charset="0"/>
              </a:rPr>
              <a:t>Primary Content</a:t>
            </a:r>
            <a:endParaRPr lang="en-AU" b="1" dirty="0">
              <a:solidFill>
                <a:schemeClr val="tx1"/>
              </a:solidFill>
              <a:latin typeface="Comic Sans MS" panose="030F0702030302020204" pitchFamily="66" charset="0"/>
            </a:endParaRPr>
          </a:p>
        </p:txBody>
      </p:sp>
      <p:pic>
        <p:nvPicPr>
          <p:cNvPr id="5" name="Picture 4">
            <a:extLst>
              <a:ext uri="{FF2B5EF4-FFF2-40B4-BE49-F238E27FC236}">
                <a16:creationId xmlns:a16="http://schemas.microsoft.com/office/drawing/2014/main" id="{53D926FC-B01A-B1F3-80B9-43D7F7F921D2}"/>
              </a:ext>
            </a:extLst>
          </p:cNvPr>
          <p:cNvPicPr>
            <a:picLocks noChangeAspect="1"/>
          </p:cNvPicPr>
          <p:nvPr/>
        </p:nvPicPr>
        <p:blipFill>
          <a:blip r:embed="rId2"/>
          <a:stretch>
            <a:fillRect/>
          </a:stretch>
        </p:blipFill>
        <p:spPr>
          <a:xfrm>
            <a:off x="7560042" y="2230450"/>
            <a:ext cx="1596150" cy="1610029"/>
          </a:xfrm>
          <a:prstGeom prst="rect">
            <a:avLst/>
          </a:prstGeom>
        </p:spPr>
      </p:pic>
      <p:cxnSp>
        <p:nvCxnSpPr>
          <p:cNvPr id="7" name="Straight Connector 6">
            <a:extLst>
              <a:ext uri="{FF2B5EF4-FFF2-40B4-BE49-F238E27FC236}">
                <a16:creationId xmlns:a16="http://schemas.microsoft.com/office/drawing/2014/main" id="{C1A9C881-5B22-275B-2746-94D4E30DEF03}"/>
              </a:ext>
            </a:extLst>
          </p:cNvPr>
          <p:cNvCxnSpPr>
            <a:cxnSpLocks/>
          </p:cNvCxnSpPr>
          <p:nvPr/>
        </p:nvCxnSpPr>
        <p:spPr>
          <a:xfrm>
            <a:off x="6400800" y="621792"/>
            <a:ext cx="0" cy="5365407"/>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36FCEA5-5E49-90A2-7B5F-10CE7A803434}"/>
              </a:ext>
            </a:extLst>
          </p:cNvPr>
          <p:cNvCxnSpPr/>
          <p:nvPr/>
        </p:nvCxnSpPr>
        <p:spPr>
          <a:xfrm>
            <a:off x="5811450" y="1371600"/>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91BE203-16E5-C19F-4F87-91D1FB5C9CBF}"/>
              </a:ext>
            </a:extLst>
          </p:cNvPr>
          <p:cNvCxnSpPr/>
          <p:nvPr/>
        </p:nvCxnSpPr>
        <p:spPr>
          <a:xfrm>
            <a:off x="5811450" y="2374392"/>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CDF05C65-7DFF-D9DD-1BA4-064D2846FAF3}"/>
              </a:ext>
            </a:extLst>
          </p:cNvPr>
          <p:cNvCxnSpPr/>
          <p:nvPr/>
        </p:nvCxnSpPr>
        <p:spPr>
          <a:xfrm>
            <a:off x="5811450" y="343742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2FB88087-6423-8A73-428E-8BB250DDCE46}"/>
              </a:ext>
            </a:extLst>
          </p:cNvPr>
          <p:cNvSpPr/>
          <p:nvPr/>
        </p:nvSpPr>
        <p:spPr>
          <a:xfrm>
            <a:off x="4520240" y="3145193"/>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Tools</a:t>
            </a:r>
            <a:endParaRPr lang="en-AU" sz="1600" dirty="0">
              <a:solidFill>
                <a:schemeClr val="tx1"/>
              </a:solidFill>
              <a:latin typeface="Comic Sans MS" panose="030F0702030302020204" pitchFamily="66" charset="0"/>
            </a:endParaRPr>
          </a:p>
        </p:txBody>
      </p:sp>
      <p:sp>
        <p:nvSpPr>
          <p:cNvPr id="13" name="Rectangle 12">
            <a:extLst>
              <a:ext uri="{FF2B5EF4-FFF2-40B4-BE49-F238E27FC236}">
                <a16:creationId xmlns:a16="http://schemas.microsoft.com/office/drawing/2014/main" id="{A1CC5314-3BAE-C097-8F96-2F7D411C0B9B}"/>
              </a:ext>
            </a:extLst>
          </p:cNvPr>
          <p:cNvSpPr/>
          <p:nvPr/>
        </p:nvSpPr>
        <p:spPr>
          <a:xfrm>
            <a:off x="4087372" y="4202849"/>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Input &amp; Output Samples</a:t>
            </a:r>
            <a:endParaRPr lang="en-AU" sz="1400" dirty="0">
              <a:solidFill>
                <a:schemeClr val="tx1"/>
              </a:solidFill>
              <a:latin typeface="Comic Sans MS" panose="030F0702030302020204" pitchFamily="66" charset="0"/>
            </a:endParaRPr>
          </a:p>
        </p:txBody>
      </p:sp>
      <p:sp>
        <p:nvSpPr>
          <p:cNvPr id="14" name="Rectangle 13">
            <a:extLst>
              <a:ext uri="{FF2B5EF4-FFF2-40B4-BE49-F238E27FC236}">
                <a16:creationId xmlns:a16="http://schemas.microsoft.com/office/drawing/2014/main" id="{13662F1D-7FE0-BCC9-228A-C4F225DBE855}"/>
              </a:ext>
            </a:extLst>
          </p:cNvPr>
          <p:cNvSpPr/>
          <p:nvPr/>
        </p:nvSpPr>
        <p:spPr>
          <a:xfrm>
            <a:off x="4128902" y="5148757"/>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Supporting Data</a:t>
            </a:r>
            <a:endParaRPr lang="en-AU" sz="1400" dirty="0">
              <a:solidFill>
                <a:schemeClr val="tx1"/>
              </a:solidFill>
              <a:latin typeface="Comic Sans MS" panose="030F0702030302020204" pitchFamily="66" charset="0"/>
            </a:endParaRPr>
          </a:p>
        </p:txBody>
      </p:sp>
      <p:cxnSp>
        <p:nvCxnSpPr>
          <p:cNvPr id="16" name="Straight Connector 15">
            <a:extLst>
              <a:ext uri="{FF2B5EF4-FFF2-40B4-BE49-F238E27FC236}">
                <a16:creationId xmlns:a16="http://schemas.microsoft.com/office/drawing/2014/main" id="{442A933A-C212-43B3-1FD1-AB6867EEE1C3}"/>
              </a:ext>
            </a:extLst>
          </p:cNvPr>
          <p:cNvCxnSpPr/>
          <p:nvPr/>
        </p:nvCxnSpPr>
        <p:spPr>
          <a:xfrm>
            <a:off x="5811450" y="4503496"/>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11E2BC9-71AD-02F5-A114-E9198D7B6E2A}"/>
              </a:ext>
            </a:extLst>
          </p:cNvPr>
          <p:cNvCxnSpPr/>
          <p:nvPr/>
        </p:nvCxnSpPr>
        <p:spPr>
          <a:xfrm>
            <a:off x="5893746" y="541820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0E64F43C-6F8D-9792-5D7E-245227465220}"/>
              </a:ext>
            </a:extLst>
          </p:cNvPr>
          <p:cNvSpPr/>
          <p:nvPr/>
        </p:nvSpPr>
        <p:spPr>
          <a:xfrm>
            <a:off x="1591054" y="2079117"/>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User Prompt</a:t>
            </a:r>
            <a:endParaRPr lang="en-AU" sz="1600" dirty="0">
              <a:solidFill>
                <a:schemeClr val="tx1"/>
              </a:solidFill>
              <a:latin typeface="Comic Sans MS" panose="030F0702030302020204" pitchFamily="66" charset="0"/>
            </a:endParaRPr>
          </a:p>
        </p:txBody>
      </p:sp>
      <p:sp>
        <p:nvSpPr>
          <p:cNvPr id="19" name="Arrow: Right 18">
            <a:extLst>
              <a:ext uri="{FF2B5EF4-FFF2-40B4-BE49-F238E27FC236}">
                <a16:creationId xmlns:a16="http://schemas.microsoft.com/office/drawing/2014/main" id="{08BCFE8F-0004-8751-57FE-4BB97ABB6DFC}"/>
              </a:ext>
            </a:extLst>
          </p:cNvPr>
          <p:cNvSpPr/>
          <p:nvPr/>
        </p:nvSpPr>
        <p:spPr>
          <a:xfrm>
            <a:off x="3035808" y="2230450"/>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Arrow: Right 19">
            <a:extLst>
              <a:ext uri="{FF2B5EF4-FFF2-40B4-BE49-F238E27FC236}">
                <a16:creationId xmlns:a16="http://schemas.microsoft.com/office/drawing/2014/main" id="{C3C2F393-51C0-C799-97EE-35CD5F9E6450}"/>
              </a:ext>
            </a:extLst>
          </p:cNvPr>
          <p:cNvSpPr/>
          <p:nvPr/>
        </p:nvSpPr>
        <p:spPr>
          <a:xfrm>
            <a:off x="6693791" y="2897201"/>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1" name="Rectangle 20">
            <a:extLst>
              <a:ext uri="{FF2B5EF4-FFF2-40B4-BE49-F238E27FC236}">
                <a16:creationId xmlns:a16="http://schemas.microsoft.com/office/drawing/2014/main" id="{F7E7629A-3AAA-4AA2-C132-07C92916085F}"/>
              </a:ext>
            </a:extLst>
          </p:cNvPr>
          <p:cNvSpPr/>
          <p:nvPr/>
        </p:nvSpPr>
        <p:spPr>
          <a:xfrm>
            <a:off x="10111122" y="2713945"/>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LLM Response</a:t>
            </a:r>
            <a:endParaRPr lang="en-AU" sz="1400" dirty="0">
              <a:solidFill>
                <a:schemeClr val="tx1"/>
              </a:solidFill>
              <a:latin typeface="Comic Sans MS" panose="030F0702030302020204" pitchFamily="66" charset="0"/>
            </a:endParaRPr>
          </a:p>
        </p:txBody>
      </p:sp>
      <p:sp>
        <p:nvSpPr>
          <p:cNvPr id="6" name="Diamond 5">
            <a:extLst>
              <a:ext uri="{FF2B5EF4-FFF2-40B4-BE49-F238E27FC236}">
                <a16:creationId xmlns:a16="http://schemas.microsoft.com/office/drawing/2014/main" id="{611FF6B5-6A24-680D-BF14-99717ED2229D}"/>
              </a:ext>
            </a:extLst>
          </p:cNvPr>
          <p:cNvSpPr/>
          <p:nvPr/>
        </p:nvSpPr>
        <p:spPr>
          <a:xfrm>
            <a:off x="8127998" y="4844199"/>
            <a:ext cx="1596149" cy="1143000"/>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atin typeface="Comic Sans MS" panose="030F0702030302020204" pitchFamily="66" charset="0"/>
              </a:rPr>
              <a:t>Tool Call ?</a:t>
            </a:r>
            <a:endParaRPr lang="en-AU" dirty="0">
              <a:latin typeface="Comic Sans MS" panose="030F0702030302020204" pitchFamily="66" charset="0"/>
            </a:endParaRPr>
          </a:p>
        </p:txBody>
      </p:sp>
      <p:cxnSp>
        <p:nvCxnSpPr>
          <p:cNvPr id="15" name="Connector: Curved 14">
            <a:extLst>
              <a:ext uri="{FF2B5EF4-FFF2-40B4-BE49-F238E27FC236}">
                <a16:creationId xmlns:a16="http://schemas.microsoft.com/office/drawing/2014/main" id="{C07194BD-F327-1538-08B1-ECD90D4C951D}"/>
              </a:ext>
            </a:extLst>
          </p:cNvPr>
          <p:cNvCxnSpPr>
            <a:cxnSpLocks/>
            <a:stCxn id="21" idx="2"/>
          </p:cNvCxnSpPr>
          <p:nvPr/>
        </p:nvCxnSpPr>
        <p:spPr>
          <a:xfrm rot="5400000">
            <a:off x="9174454" y="3854191"/>
            <a:ext cx="2111205" cy="1011813"/>
          </a:xfrm>
          <a:prstGeom prst="curvedConnector3">
            <a:avLst>
              <a:gd name="adj1" fmla="val 98726"/>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Curved 24">
            <a:extLst>
              <a:ext uri="{FF2B5EF4-FFF2-40B4-BE49-F238E27FC236}">
                <a16:creationId xmlns:a16="http://schemas.microsoft.com/office/drawing/2014/main" id="{D8BED507-CFAA-BED2-7CB1-B0A7EB665613}"/>
              </a:ext>
            </a:extLst>
          </p:cNvPr>
          <p:cNvCxnSpPr>
            <a:cxnSpLocks/>
            <a:stCxn id="6" idx="1"/>
            <a:endCxn id="14" idx="2"/>
          </p:cNvCxnSpPr>
          <p:nvPr/>
        </p:nvCxnSpPr>
        <p:spPr>
          <a:xfrm rot="10800000" flipV="1">
            <a:off x="4970176" y="5415699"/>
            <a:ext cx="3157822" cy="323608"/>
          </a:xfrm>
          <a:prstGeom prst="curvedConnector4">
            <a:avLst>
              <a:gd name="adj1" fmla="val 36680"/>
              <a:gd name="adj2" fmla="val 247244"/>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1" name="Arrow: Right 30">
            <a:extLst>
              <a:ext uri="{FF2B5EF4-FFF2-40B4-BE49-F238E27FC236}">
                <a16:creationId xmlns:a16="http://schemas.microsoft.com/office/drawing/2014/main" id="{7D388698-6B47-5B61-D85C-56FFFFEFB163}"/>
              </a:ext>
            </a:extLst>
          </p:cNvPr>
          <p:cNvSpPr/>
          <p:nvPr/>
        </p:nvSpPr>
        <p:spPr>
          <a:xfrm>
            <a:off x="9126666" y="2902028"/>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a:extLst>
              <a:ext uri="{FF2B5EF4-FFF2-40B4-BE49-F238E27FC236}">
                <a16:creationId xmlns:a16="http://schemas.microsoft.com/office/drawing/2014/main" id="{9F3F8DBF-6E83-A505-A05A-DF80943F4DF3}"/>
              </a:ext>
            </a:extLst>
          </p:cNvPr>
          <p:cNvSpPr/>
          <p:nvPr/>
        </p:nvSpPr>
        <p:spPr>
          <a:xfrm>
            <a:off x="8212412" y="6060960"/>
            <a:ext cx="237938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Trigger tool and return results to LLM</a:t>
            </a:r>
            <a:endParaRPr lang="en-AU" sz="1600" dirty="0">
              <a:solidFill>
                <a:schemeClr val="tx1"/>
              </a:solidFill>
              <a:latin typeface="Comic Sans MS" panose="030F0702030302020204" pitchFamily="66" charset="0"/>
            </a:endParaRPr>
          </a:p>
        </p:txBody>
      </p:sp>
    </p:spTree>
    <p:extLst>
      <p:ext uri="{BB962C8B-B14F-4D97-AF65-F5344CB8AC3E}">
        <p14:creationId xmlns:p14="http://schemas.microsoft.com/office/powerpoint/2010/main" val="197819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4572E-53DA-BAA3-2BFB-D0D0305C6D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BA710C-047A-566E-235C-BECA650F2554}"/>
              </a:ext>
            </a:extLst>
          </p:cNvPr>
          <p:cNvSpPr/>
          <p:nvPr/>
        </p:nvSpPr>
        <p:spPr>
          <a:xfrm>
            <a:off x="4524374" y="1087451"/>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System Instructions</a:t>
            </a:r>
            <a:endParaRPr lang="en-AU" sz="1400" dirty="0">
              <a:solidFill>
                <a:schemeClr val="tx1"/>
              </a:solidFill>
              <a:latin typeface="Comic Sans MS" panose="030F0702030302020204" pitchFamily="66" charset="0"/>
            </a:endParaRPr>
          </a:p>
        </p:txBody>
      </p:sp>
      <p:sp>
        <p:nvSpPr>
          <p:cNvPr id="3" name="Rectangle 2">
            <a:extLst>
              <a:ext uri="{FF2B5EF4-FFF2-40B4-BE49-F238E27FC236}">
                <a16:creationId xmlns:a16="http://schemas.microsoft.com/office/drawing/2014/main" id="{12500464-61BF-6A1B-11B5-493067111E12}"/>
              </a:ext>
            </a:extLst>
          </p:cNvPr>
          <p:cNvSpPr/>
          <p:nvPr/>
        </p:nvSpPr>
        <p:spPr>
          <a:xfrm>
            <a:off x="3954075" y="1910411"/>
            <a:ext cx="1857375" cy="98679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Comic Sans MS" panose="030F0702030302020204" pitchFamily="66" charset="0"/>
              </a:rPr>
              <a:t>Primary Content</a:t>
            </a:r>
            <a:endParaRPr lang="en-AU" b="1" dirty="0">
              <a:solidFill>
                <a:schemeClr val="tx1"/>
              </a:solidFill>
              <a:latin typeface="Comic Sans MS" panose="030F0702030302020204" pitchFamily="66" charset="0"/>
            </a:endParaRPr>
          </a:p>
        </p:txBody>
      </p:sp>
      <p:pic>
        <p:nvPicPr>
          <p:cNvPr id="5" name="Picture 4">
            <a:extLst>
              <a:ext uri="{FF2B5EF4-FFF2-40B4-BE49-F238E27FC236}">
                <a16:creationId xmlns:a16="http://schemas.microsoft.com/office/drawing/2014/main" id="{304C2F72-5D9B-A15D-2192-C8A877EA757D}"/>
              </a:ext>
            </a:extLst>
          </p:cNvPr>
          <p:cNvPicPr>
            <a:picLocks noChangeAspect="1"/>
          </p:cNvPicPr>
          <p:nvPr/>
        </p:nvPicPr>
        <p:blipFill>
          <a:blip r:embed="rId2"/>
          <a:stretch>
            <a:fillRect/>
          </a:stretch>
        </p:blipFill>
        <p:spPr>
          <a:xfrm>
            <a:off x="7560042" y="2230450"/>
            <a:ext cx="1596150" cy="1610029"/>
          </a:xfrm>
          <a:prstGeom prst="rect">
            <a:avLst/>
          </a:prstGeom>
        </p:spPr>
      </p:pic>
      <p:cxnSp>
        <p:nvCxnSpPr>
          <p:cNvPr id="7" name="Straight Connector 6">
            <a:extLst>
              <a:ext uri="{FF2B5EF4-FFF2-40B4-BE49-F238E27FC236}">
                <a16:creationId xmlns:a16="http://schemas.microsoft.com/office/drawing/2014/main" id="{09A995F1-1E72-C978-3717-6382AB39577F}"/>
              </a:ext>
            </a:extLst>
          </p:cNvPr>
          <p:cNvCxnSpPr>
            <a:cxnSpLocks/>
          </p:cNvCxnSpPr>
          <p:nvPr/>
        </p:nvCxnSpPr>
        <p:spPr>
          <a:xfrm>
            <a:off x="6400800" y="621792"/>
            <a:ext cx="0" cy="5559552"/>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E48007E-8B89-FE27-C0CF-7F15E39D846F}"/>
              </a:ext>
            </a:extLst>
          </p:cNvPr>
          <p:cNvCxnSpPr/>
          <p:nvPr/>
        </p:nvCxnSpPr>
        <p:spPr>
          <a:xfrm>
            <a:off x="5811450" y="1371600"/>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9FB8421-7152-18D2-ECEF-AF557B298F82}"/>
              </a:ext>
            </a:extLst>
          </p:cNvPr>
          <p:cNvCxnSpPr/>
          <p:nvPr/>
        </p:nvCxnSpPr>
        <p:spPr>
          <a:xfrm>
            <a:off x="5811450" y="2374392"/>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211448A-485A-0316-6336-1F6D7C072CB9}"/>
              </a:ext>
            </a:extLst>
          </p:cNvPr>
          <p:cNvCxnSpPr/>
          <p:nvPr/>
        </p:nvCxnSpPr>
        <p:spPr>
          <a:xfrm>
            <a:off x="5811450" y="343742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2A44AB1F-62D7-B845-88ED-009FDD335EC2}"/>
              </a:ext>
            </a:extLst>
          </p:cNvPr>
          <p:cNvSpPr/>
          <p:nvPr/>
        </p:nvSpPr>
        <p:spPr>
          <a:xfrm>
            <a:off x="4520240" y="3145193"/>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Tools</a:t>
            </a:r>
            <a:endParaRPr lang="en-AU" sz="1600" dirty="0">
              <a:solidFill>
                <a:schemeClr val="tx1"/>
              </a:solidFill>
              <a:latin typeface="Comic Sans MS" panose="030F0702030302020204" pitchFamily="66" charset="0"/>
            </a:endParaRPr>
          </a:p>
        </p:txBody>
      </p:sp>
      <p:sp>
        <p:nvSpPr>
          <p:cNvPr id="13" name="Rectangle 12">
            <a:extLst>
              <a:ext uri="{FF2B5EF4-FFF2-40B4-BE49-F238E27FC236}">
                <a16:creationId xmlns:a16="http://schemas.microsoft.com/office/drawing/2014/main" id="{C9EC7B47-EA16-31D1-1AA3-9D004AD06812}"/>
              </a:ext>
            </a:extLst>
          </p:cNvPr>
          <p:cNvSpPr/>
          <p:nvPr/>
        </p:nvSpPr>
        <p:spPr>
          <a:xfrm>
            <a:off x="4087372" y="4202849"/>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Input &amp; Output Samples</a:t>
            </a:r>
            <a:endParaRPr lang="en-AU" sz="1400" dirty="0">
              <a:solidFill>
                <a:schemeClr val="tx1"/>
              </a:solidFill>
              <a:latin typeface="Comic Sans MS" panose="030F0702030302020204" pitchFamily="66" charset="0"/>
            </a:endParaRPr>
          </a:p>
        </p:txBody>
      </p:sp>
      <p:sp>
        <p:nvSpPr>
          <p:cNvPr id="14" name="Rectangle 13">
            <a:extLst>
              <a:ext uri="{FF2B5EF4-FFF2-40B4-BE49-F238E27FC236}">
                <a16:creationId xmlns:a16="http://schemas.microsoft.com/office/drawing/2014/main" id="{AD6F31CB-2B40-E24F-F2A2-D25AE8BAC03B}"/>
              </a:ext>
            </a:extLst>
          </p:cNvPr>
          <p:cNvSpPr/>
          <p:nvPr/>
        </p:nvSpPr>
        <p:spPr>
          <a:xfrm>
            <a:off x="4128902" y="5148757"/>
            <a:ext cx="1682548"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Supporting Data</a:t>
            </a:r>
            <a:endParaRPr lang="en-AU" sz="1400" dirty="0">
              <a:solidFill>
                <a:schemeClr val="tx1"/>
              </a:solidFill>
              <a:latin typeface="Comic Sans MS" panose="030F0702030302020204" pitchFamily="66" charset="0"/>
            </a:endParaRPr>
          </a:p>
        </p:txBody>
      </p:sp>
      <p:cxnSp>
        <p:nvCxnSpPr>
          <p:cNvPr id="16" name="Straight Connector 15">
            <a:extLst>
              <a:ext uri="{FF2B5EF4-FFF2-40B4-BE49-F238E27FC236}">
                <a16:creationId xmlns:a16="http://schemas.microsoft.com/office/drawing/2014/main" id="{8CFE415C-5D77-F7D7-5F09-5D05E79A1F48}"/>
              </a:ext>
            </a:extLst>
          </p:cNvPr>
          <p:cNvCxnSpPr/>
          <p:nvPr/>
        </p:nvCxnSpPr>
        <p:spPr>
          <a:xfrm>
            <a:off x="5811450" y="4503496"/>
            <a:ext cx="50705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60CC348-10BB-9CCF-AE54-9E5494FD429F}"/>
              </a:ext>
            </a:extLst>
          </p:cNvPr>
          <p:cNvCxnSpPr/>
          <p:nvPr/>
        </p:nvCxnSpPr>
        <p:spPr>
          <a:xfrm>
            <a:off x="5893746" y="5418200"/>
            <a:ext cx="507054"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3F90B3BF-5A1F-6A93-6B26-3505FC8C9F61}"/>
              </a:ext>
            </a:extLst>
          </p:cNvPr>
          <p:cNvSpPr/>
          <p:nvPr/>
        </p:nvSpPr>
        <p:spPr>
          <a:xfrm>
            <a:off x="1591054" y="2079117"/>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mic Sans MS" panose="030F0702030302020204" pitchFamily="66" charset="0"/>
              </a:rPr>
              <a:t>User Prompt</a:t>
            </a:r>
            <a:endParaRPr lang="en-AU" sz="1600" dirty="0">
              <a:solidFill>
                <a:schemeClr val="tx1"/>
              </a:solidFill>
              <a:latin typeface="Comic Sans MS" panose="030F0702030302020204" pitchFamily="66" charset="0"/>
            </a:endParaRPr>
          </a:p>
        </p:txBody>
      </p:sp>
      <p:sp>
        <p:nvSpPr>
          <p:cNvPr id="19" name="Arrow: Right 18">
            <a:extLst>
              <a:ext uri="{FF2B5EF4-FFF2-40B4-BE49-F238E27FC236}">
                <a16:creationId xmlns:a16="http://schemas.microsoft.com/office/drawing/2014/main" id="{B32DF272-5741-AEAA-6C68-762C245E0CAF}"/>
              </a:ext>
            </a:extLst>
          </p:cNvPr>
          <p:cNvSpPr/>
          <p:nvPr/>
        </p:nvSpPr>
        <p:spPr>
          <a:xfrm>
            <a:off x="3035808" y="2230450"/>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Arrow: Right 19">
            <a:extLst>
              <a:ext uri="{FF2B5EF4-FFF2-40B4-BE49-F238E27FC236}">
                <a16:creationId xmlns:a16="http://schemas.microsoft.com/office/drawing/2014/main" id="{99B68F22-0EE6-ACED-62BD-763F1B60275A}"/>
              </a:ext>
            </a:extLst>
          </p:cNvPr>
          <p:cNvSpPr/>
          <p:nvPr/>
        </p:nvSpPr>
        <p:spPr>
          <a:xfrm>
            <a:off x="6693791" y="2897201"/>
            <a:ext cx="667512" cy="3207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1" name="Rectangle 20">
            <a:extLst>
              <a:ext uri="{FF2B5EF4-FFF2-40B4-BE49-F238E27FC236}">
                <a16:creationId xmlns:a16="http://schemas.microsoft.com/office/drawing/2014/main" id="{CAA61BDC-1C65-9F6E-E22B-F1B8E9519781}"/>
              </a:ext>
            </a:extLst>
          </p:cNvPr>
          <p:cNvSpPr/>
          <p:nvPr/>
        </p:nvSpPr>
        <p:spPr>
          <a:xfrm>
            <a:off x="9596246" y="2762289"/>
            <a:ext cx="1249680" cy="590550"/>
          </a:xfrm>
          <a:prstGeom prst="rect">
            <a:avLst/>
          </a:prstGeom>
          <a:solidFill>
            <a:schemeClr val="bg1"/>
          </a:solidFill>
          <a:ln w="28575">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mic Sans MS" panose="030F0702030302020204" pitchFamily="66" charset="0"/>
              </a:rPr>
              <a:t>LLM Response</a:t>
            </a:r>
            <a:endParaRPr lang="en-AU" sz="1400" dirty="0">
              <a:solidFill>
                <a:schemeClr val="tx1"/>
              </a:solidFill>
              <a:latin typeface="Comic Sans MS" panose="030F0702030302020204" pitchFamily="66" charset="0"/>
            </a:endParaRPr>
          </a:p>
        </p:txBody>
      </p:sp>
    </p:spTree>
    <p:extLst>
      <p:ext uri="{BB962C8B-B14F-4D97-AF65-F5344CB8AC3E}">
        <p14:creationId xmlns:p14="http://schemas.microsoft.com/office/powerpoint/2010/main" val="218017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BD602-3BB0-5748-6DEB-23DD9737B9E7}"/>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id="{15CF1BC4-3487-446A-CFB1-C6E42567F1C2}"/>
              </a:ext>
            </a:extLst>
          </p:cNvPr>
          <p:cNvSpPr/>
          <p:nvPr/>
        </p:nvSpPr>
        <p:spPr>
          <a:xfrm>
            <a:off x="3861787" y="2992626"/>
            <a:ext cx="2441359" cy="909116"/>
          </a:xfrm>
          <a:prstGeom prst="rect">
            <a:avLst/>
          </a:prstGeom>
          <a:solidFill>
            <a:schemeClr val="bg1"/>
          </a:solidFill>
          <a:ln w="285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AU" sz="1400" dirty="0">
              <a:solidFill>
                <a:schemeClr val="tx1"/>
              </a:solidFill>
              <a:latin typeface="Comic Sans MS" panose="030F0702030302020204" pitchFamily="66" charset="0"/>
            </a:endParaRPr>
          </a:p>
        </p:txBody>
      </p:sp>
      <p:sp>
        <p:nvSpPr>
          <p:cNvPr id="2" name="Rectangle 1">
            <a:extLst>
              <a:ext uri="{FF2B5EF4-FFF2-40B4-BE49-F238E27FC236}">
                <a16:creationId xmlns:a16="http://schemas.microsoft.com/office/drawing/2014/main" id="{B0C00346-83A2-E421-49F6-E7B0640E5592}"/>
              </a:ext>
            </a:extLst>
          </p:cNvPr>
          <p:cNvSpPr/>
          <p:nvPr/>
        </p:nvSpPr>
        <p:spPr>
          <a:xfrm>
            <a:off x="1153764" y="2586001"/>
            <a:ext cx="2210539" cy="1552678"/>
          </a:xfrm>
          <a:prstGeom prst="rect">
            <a:avLst/>
          </a:prstGeom>
          <a:solidFill>
            <a:schemeClr val="bg1"/>
          </a:solidFill>
          <a:ln w="285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AU" sz="1400" dirty="0">
              <a:solidFill>
                <a:schemeClr val="tx1"/>
              </a:solidFill>
              <a:latin typeface="Comic Sans MS" panose="030F0702030302020204" pitchFamily="66" charset="0"/>
            </a:endParaRPr>
          </a:p>
        </p:txBody>
      </p:sp>
      <p:sp>
        <p:nvSpPr>
          <p:cNvPr id="18" name="Rectangle 17">
            <a:extLst>
              <a:ext uri="{FF2B5EF4-FFF2-40B4-BE49-F238E27FC236}">
                <a16:creationId xmlns:a16="http://schemas.microsoft.com/office/drawing/2014/main" id="{025303CB-0ED1-6B01-8655-EA86BD214B70}"/>
              </a:ext>
            </a:extLst>
          </p:cNvPr>
          <p:cNvSpPr/>
          <p:nvPr/>
        </p:nvSpPr>
        <p:spPr>
          <a:xfrm>
            <a:off x="1342995" y="3006463"/>
            <a:ext cx="1784447" cy="355114"/>
          </a:xfrm>
          <a:prstGeom prst="rect">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submit_order</a:t>
            </a:r>
            <a:endParaRPr lang="en-AU" sz="1200" dirty="0">
              <a:solidFill>
                <a:schemeClr val="tx1"/>
              </a:solidFill>
              <a:latin typeface="Comic Sans MS" panose="030F0702030302020204" pitchFamily="66" charset="0"/>
            </a:endParaRPr>
          </a:p>
        </p:txBody>
      </p:sp>
      <p:sp>
        <p:nvSpPr>
          <p:cNvPr id="15" name="Title 5">
            <a:extLst>
              <a:ext uri="{FF2B5EF4-FFF2-40B4-BE49-F238E27FC236}">
                <a16:creationId xmlns:a16="http://schemas.microsoft.com/office/drawing/2014/main" id="{9FA342B7-8398-FCE9-B462-148D649D17EE}"/>
              </a:ext>
            </a:extLst>
          </p:cNvPr>
          <p:cNvSpPr txBox="1">
            <a:spLocks/>
          </p:cNvSpPr>
          <p:nvPr/>
        </p:nvSpPr>
        <p:spPr>
          <a:xfrm>
            <a:off x="437177" y="180142"/>
            <a:ext cx="9518986" cy="55399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R="0" lvl="0" indent="0" algn="l" defTabSz="1371600" rtl="0" eaLnBrk="1" fontAlgn="auto" latinLnBrk="0" hangingPunct="1">
              <a:lnSpc>
                <a:spcPct val="100000"/>
              </a:lnSpc>
              <a:spcBef>
                <a:spcPts val="0"/>
              </a:spcBef>
              <a:spcAft>
                <a:spcPts val="0"/>
              </a:spcAft>
              <a:buClrTx/>
              <a:buSzTx/>
              <a:buFontTx/>
              <a:buNone/>
              <a:tabLst>
                <a:tab pos="1371600" algn="l"/>
              </a:tabLst>
              <a:defRPr kumimoji="0" lang="en-US" sz="2400" b="0" i="0" u="none" strike="noStrike" kern="1200" cap="none" spc="0" normalizeH="0" baseline="0">
                <a:ln w="3175">
                  <a:noFill/>
                </a:ln>
                <a:gradFill>
                  <a:gsLst>
                    <a:gs pos="0">
                      <a:srgbClr val="FFA38B"/>
                    </a:gs>
                    <a:gs pos="32000">
                      <a:srgbClr val="D59ED7"/>
                    </a:gs>
                    <a:gs pos="68000">
                      <a:srgbClr val="8DC8E8"/>
                    </a:gs>
                    <a:gs pos="100000">
                      <a:srgbClr val="49C5B1"/>
                    </a:gs>
                  </a:gsLst>
                  <a:path path="circle">
                    <a:fillToRect l="100000" t="100000"/>
                  </a:path>
                </a:gradFill>
                <a:effectLst/>
                <a:uLnTx/>
                <a:uFillTx/>
                <a:latin typeface="+mj-lt"/>
                <a:ea typeface="+mn-ea"/>
                <a:cs typeface="Segoe UI" panose="020B0502040204020203" pitchFamily="34" charset="0"/>
              </a:defRPr>
            </a:lvl1pPr>
            <a:lvl2pPr marL="457200" defTabSz="914400">
              <a:defRPr sz="1800"/>
            </a:lvl2pPr>
            <a:lvl3pPr marL="914400" defTabSz="914400">
              <a:defRPr sz="1800"/>
            </a:lvl3pPr>
            <a:lvl4pPr marL="1371600" defTabSz="914400">
              <a:defRPr sz="1800"/>
            </a:lvl4pPr>
            <a:lvl5pPr marL="1828800" defTabSz="914400">
              <a:defRPr sz="1800"/>
            </a:lvl5pPr>
            <a:lvl6pPr marL="2286000" defTabSz="914400">
              <a:defRPr sz="1800"/>
            </a:lvl6pPr>
            <a:lvl7pPr marL="2743200" defTabSz="914400">
              <a:defRPr sz="1800"/>
            </a:lvl7pPr>
            <a:lvl8pPr marL="3200400" defTabSz="914400">
              <a:defRPr sz="1800"/>
            </a:lvl8pPr>
            <a:lvl9pPr marL="3657600" defTabSz="914400">
              <a:defRPr sz="1800"/>
            </a:lvl9pPr>
          </a:lstStyle>
          <a:p>
            <a:pPr>
              <a:defRPr/>
            </a:pPr>
            <a:r>
              <a:rPr lang="en-US" sz="3600" dirty="0">
                <a:solidFill>
                  <a:schemeClr val="tx1"/>
                </a:solidFill>
              </a:rPr>
              <a:t>How does Function Calling work ?</a:t>
            </a:r>
            <a:endParaRPr lang="en-US" sz="3600" b="1" spc="-50" dirty="0">
              <a:solidFill>
                <a:srgbClr val="8CADC6"/>
              </a:solidFill>
              <a:latin typeface="Segoe UI Semibold"/>
              <a:cs typeface="Segoe UI Semibold"/>
            </a:endParaRPr>
          </a:p>
        </p:txBody>
      </p:sp>
      <p:cxnSp>
        <p:nvCxnSpPr>
          <p:cNvPr id="8" name="Straight Connector 7">
            <a:extLst>
              <a:ext uri="{FF2B5EF4-FFF2-40B4-BE49-F238E27FC236}">
                <a16:creationId xmlns:a16="http://schemas.microsoft.com/office/drawing/2014/main" id="{11795CAB-5868-0938-5BCB-01681D651E3E}"/>
              </a:ext>
            </a:extLst>
          </p:cNvPr>
          <p:cNvCxnSpPr>
            <a:cxnSpLocks/>
          </p:cNvCxnSpPr>
          <p:nvPr/>
        </p:nvCxnSpPr>
        <p:spPr>
          <a:xfrm>
            <a:off x="1153764" y="2110023"/>
            <a:ext cx="10184796"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F0C018E5-031E-988F-9399-3B987607B0DE}"/>
              </a:ext>
            </a:extLst>
          </p:cNvPr>
          <p:cNvSpPr/>
          <p:nvPr/>
        </p:nvSpPr>
        <p:spPr>
          <a:xfrm>
            <a:off x="1281084" y="3515293"/>
            <a:ext cx="1955898" cy="430187"/>
          </a:xfrm>
          <a:prstGeom prst="rect">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I want to buy Constoso Roadster bike . . .</a:t>
            </a:r>
            <a:endParaRPr lang="en-AU" sz="1200" dirty="0">
              <a:solidFill>
                <a:schemeClr val="tx1"/>
              </a:solidFill>
              <a:latin typeface="Comic Sans MS" panose="030F0702030302020204" pitchFamily="66" charset="0"/>
            </a:endParaRPr>
          </a:p>
        </p:txBody>
      </p:sp>
      <p:sp>
        <p:nvSpPr>
          <p:cNvPr id="27" name="Rectangle 26">
            <a:extLst>
              <a:ext uri="{FF2B5EF4-FFF2-40B4-BE49-F238E27FC236}">
                <a16:creationId xmlns:a16="http://schemas.microsoft.com/office/drawing/2014/main" id="{76780CDD-2C44-F826-FCC3-26FC9FEECBDE}"/>
              </a:ext>
            </a:extLst>
          </p:cNvPr>
          <p:cNvSpPr/>
          <p:nvPr/>
        </p:nvSpPr>
        <p:spPr>
          <a:xfrm>
            <a:off x="3985150" y="3328490"/>
            <a:ext cx="2185901" cy="430187"/>
          </a:xfrm>
          <a:prstGeom prst="rect">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submit_order(orderInfo)</a:t>
            </a:r>
            <a:endParaRPr lang="en-AU" sz="1200" dirty="0">
              <a:solidFill>
                <a:schemeClr val="tx1"/>
              </a:solidFill>
              <a:latin typeface="Comic Sans MS" panose="030F0702030302020204" pitchFamily="66" charset="0"/>
            </a:endParaRPr>
          </a:p>
        </p:txBody>
      </p:sp>
      <p:sp>
        <p:nvSpPr>
          <p:cNvPr id="28" name="TextBox 27">
            <a:extLst>
              <a:ext uri="{FF2B5EF4-FFF2-40B4-BE49-F238E27FC236}">
                <a16:creationId xmlns:a16="http://schemas.microsoft.com/office/drawing/2014/main" id="{C2DDFF7A-9E30-E91D-5338-180C608AD0C9}"/>
              </a:ext>
            </a:extLst>
          </p:cNvPr>
          <p:cNvSpPr txBox="1"/>
          <p:nvPr/>
        </p:nvSpPr>
        <p:spPr>
          <a:xfrm>
            <a:off x="4766263" y="3086582"/>
            <a:ext cx="578685" cy="169277"/>
          </a:xfrm>
          <a:prstGeom prst="rect">
            <a:avLst/>
          </a:prstGeom>
          <a:noFill/>
        </p:spPr>
        <p:txBody>
          <a:bodyPr wrap="none" lIns="0" tIns="0" rIns="0" bIns="0" rtlCol="0">
            <a:spAutoFit/>
          </a:bodyPr>
          <a:lstStyle/>
          <a:p>
            <a:pPr algn="l"/>
            <a:r>
              <a:rPr lang="en-US" sz="1100" b="1" dirty="0"/>
              <a:t>Tool Call</a:t>
            </a:r>
            <a:endParaRPr lang="en-AU" sz="1100" b="1" dirty="0" err="1"/>
          </a:p>
        </p:txBody>
      </p:sp>
      <p:sp>
        <p:nvSpPr>
          <p:cNvPr id="29" name="TextBox 28">
            <a:extLst>
              <a:ext uri="{FF2B5EF4-FFF2-40B4-BE49-F238E27FC236}">
                <a16:creationId xmlns:a16="http://schemas.microsoft.com/office/drawing/2014/main" id="{EADDCC04-7329-F56E-CF6A-F03A61BEE3D5}"/>
              </a:ext>
            </a:extLst>
          </p:cNvPr>
          <p:cNvSpPr txBox="1"/>
          <p:nvPr/>
        </p:nvSpPr>
        <p:spPr>
          <a:xfrm>
            <a:off x="1381584" y="2714647"/>
            <a:ext cx="1878719" cy="169277"/>
          </a:xfrm>
          <a:prstGeom prst="rect">
            <a:avLst/>
          </a:prstGeom>
          <a:noFill/>
        </p:spPr>
        <p:txBody>
          <a:bodyPr wrap="none" lIns="0" tIns="0" rIns="0" bIns="0" rtlCol="0">
            <a:spAutoFit/>
          </a:bodyPr>
          <a:lstStyle/>
          <a:p>
            <a:pPr algn="l"/>
            <a:r>
              <a:rPr lang="en-US" sz="1100" b="1" dirty="0"/>
              <a:t>Messages + Tool Definitions</a:t>
            </a:r>
            <a:endParaRPr lang="en-AU" sz="1100" b="1" dirty="0" err="1"/>
          </a:p>
        </p:txBody>
      </p:sp>
      <p:sp>
        <p:nvSpPr>
          <p:cNvPr id="33" name="Rectangle 32">
            <a:extLst>
              <a:ext uri="{FF2B5EF4-FFF2-40B4-BE49-F238E27FC236}">
                <a16:creationId xmlns:a16="http://schemas.microsoft.com/office/drawing/2014/main" id="{313CD7FF-AAFC-1C05-059F-177D35425741}"/>
              </a:ext>
            </a:extLst>
          </p:cNvPr>
          <p:cNvSpPr/>
          <p:nvPr/>
        </p:nvSpPr>
        <p:spPr>
          <a:xfrm>
            <a:off x="4901544" y="4913081"/>
            <a:ext cx="2539013" cy="1577795"/>
          </a:xfrm>
          <a:prstGeom prst="rect">
            <a:avLst/>
          </a:prstGeom>
          <a:solidFill>
            <a:schemeClr val="bg1"/>
          </a:solidFill>
          <a:ln w="285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AU" sz="1400" dirty="0">
              <a:solidFill>
                <a:schemeClr val="tx1"/>
              </a:solidFill>
              <a:latin typeface="Comic Sans MS" panose="030F0702030302020204" pitchFamily="66" charset="0"/>
            </a:endParaRPr>
          </a:p>
        </p:txBody>
      </p:sp>
      <p:sp>
        <p:nvSpPr>
          <p:cNvPr id="35" name="Rectangle 34">
            <a:extLst>
              <a:ext uri="{FF2B5EF4-FFF2-40B4-BE49-F238E27FC236}">
                <a16:creationId xmlns:a16="http://schemas.microsoft.com/office/drawing/2014/main" id="{FC8938EF-E4E5-196C-C785-4E2F56EAD84A}"/>
              </a:ext>
            </a:extLst>
          </p:cNvPr>
          <p:cNvSpPr/>
          <p:nvPr/>
        </p:nvSpPr>
        <p:spPr>
          <a:xfrm>
            <a:off x="5060933" y="5300701"/>
            <a:ext cx="2185901" cy="430187"/>
          </a:xfrm>
          <a:prstGeom prst="rect">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submit_order(orderInfo)</a:t>
            </a:r>
            <a:endParaRPr lang="en-AU" sz="1200" dirty="0">
              <a:solidFill>
                <a:schemeClr val="tx1"/>
              </a:solidFill>
              <a:latin typeface="Comic Sans MS" panose="030F0702030302020204" pitchFamily="66" charset="0"/>
            </a:endParaRPr>
          </a:p>
        </p:txBody>
      </p:sp>
      <p:sp>
        <p:nvSpPr>
          <p:cNvPr id="36" name="TextBox 35">
            <a:extLst>
              <a:ext uri="{FF2B5EF4-FFF2-40B4-BE49-F238E27FC236}">
                <a16:creationId xmlns:a16="http://schemas.microsoft.com/office/drawing/2014/main" id="{25B42C5E-94A2-B55B-F3D6-611BFCBDFCBA}"/>
              </a:ext>
            </a:extLst>
          </p:cNvPr>
          <p:cNvSpPr txBox="1"/>
          <p:nvPr/>
        </p:nvSpPr>
        <p:spPr>
          <a:xfrm>
            <a:off x="5400471" y="4996375"/>
            <a:ext cx="1506823" cy="169277"/>
          </a:xfrm>
          <a:prstGeom prst="rect">
            <a:avLst/>
          </a:prstGeom>
          <a:noFill/>
        </p:spPr>
        <p:txBody>
          <a:bodyPr wrap="none" lIns="0" tIns="0" rIns="0" bIns="0" rtlCol="0">
            <a:spAutoFit/>
          </a:bodyPr>
          <a:lstStyle/>
          <a:p>
            <a:pPr algn="l"/>
            <a:r>
              <a:rPr lang="en-US" sz="1100" b="1" dirty="0"/>
              <a:t>Execute Function Code</a:t>
            </a:r>
            <a:endParaRPr lang="en-AU" sz="1100" b="1" dirty="0" err="1"/>
          </a:p>
        </p:txBody>
      </p:sp>
      <p:sp>
        <p:nvSpPr>
          <p:cNvPr id="37" name="Rectangle 36">
            <a:extLst>
              <a:ext uri="{FF2B5EF4-FFF2-40B4-BE49-F238E27FC236}">
                <a16:creationId xmlns:a16="http://schemas.microsoft.com/office/drawing/2014/main" id="{439017DC-2045-C0B3-9A18-8A0FA38E436A}"/>
              </a:ext>
            </a:extLst>
          </p:cNvPr>
          <p:cNvSpPr/>
          <p:nvPr/>
        </p:nvSpPr>
        <p:spPr>
          <a:xfrm>
            <a:off x="5060931" y="5913326"/>
            <a:ext cx="2185901" cy="430187"/>
          </a:xfrm>
          <a:prstGeom prst="rect">
            <a:avLst/>
          </a:prstGeom>
          <a:solidFill>
            <a:schemeClr val="tx1">
              <a:lumMod val="25000"/>
              <a:lumOff val="7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{“orderId”: 24}</a:t>
            </a:r>
            <a:endParaRPr lang="en-AU" sz="1200" dirty="0">
              <a:solidFill>
                <a:schemeClr val="tx1"/>
              </a:solidFill>
              <a:latin typeface="Comic Sans MS" panose="030F0702030302020204" pitchFamily="66" charset="0"/>
            </a:endParaRPr>
          </a:p>
        </p:txBody>
      </p:sp>
      <p:sp>
        <p:nvSpPr>
          <p:cNvPr id="38" name="Rectangle 37">
            <a:extLst>
              <a:ext uri="{FF2B5EF4-FFF2-40B4-BE49-F238E27FC236}">
                <a16:creationId xmlns:a16="http://schemas.microsoft.com/office/drawing/2014/main" id="{F5C5EC36-9C05-7522-3936-176D0FACBE7A}"/>
              </a:ext>
            </a:extLst>
          </p:cNvPr>
          <p:cNvSpPr/>
          <p:nvPr/>
        </p:nvSpPr>
        <p:spPr>
          <a:xfrm>
            <a:off x="6702641" y="2676340"/>
            <a:ext cx="2441359" cy="1370473"/>
          </a:xfrm>
          <a:prstGeom prst="rect">
            <a:avLst/>
          </a:prstGeom>
          <a:solidFill>
            <a:schemeClr val="bg1"/>
          </a:solidFill>
          <a:ln w="285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AU" sz="1400" dirty="0">
              <a:solidFill>
                <a:schemeClr val="tx1"/>
              </a:solidFill>
              <a:latin typeface="Comic Sans MS" panose="030F0702030302020204" pitchFamily="66" charset="0"/>
            </a:endParaRPr>
          </a:p>
        </p:txBody>
      </p:sp>
      <p:sp>
        <p:nvSpPr>
          <p:cNvPr id="39" name="Rectangle 38">
            <a:extLst>
              <a:ext uri="{FF2B5EF4-FFF2-40B4-BE49-F238E27FC236}">
                <a16:creationId xmlns:a16="http://schemas.microsoft.com/office/drawing/2014/main" id="{4BC6441E-B4A8-8CEF-C065-7F0B8C0274A9}"/>
              </a:ext>
            </a:extLst>
          </p:cNvPr>
          <p:cNvSpPr/>
          <p:nvPr/>
        </p:nvSpPr>
        <p:spPr>
          <a:xfrm>
            <a:off x="7165957" y="2985573"/>
            <a:ext cx="1480956" cy="355114"/>
          </a:xfrm>
          <a:prstGeom prst="rect">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all prior messages</a:t>
            </a:r>
            <a:endParaRPr lang="en-AU" sz="1200" dirty="0">
              <a:solidFill>
                <a:schemeClr val="tx1"/>
              </a:solidFill>
              <a:latin typeface="Comic Sans MS" panose="030F0702030302020204" pitchFamily="66" charset="0"/>
            </a:endParaRPr>
          </a:p>
        </p:txBody>
      </p:sp>
      <p:sp>
        <p:nvSpPr>
          <p:cNvPr id="40" name="Rectangle 39">
            <a:extLst>
              <a:ext uri="{FF2B5EF4-FFF2-40B4-BE49-F238E27FC236}">
                <a16:creationId xmlns:a16="http://schemas.microsoft.com/office/drawing/2014/main" id="{848555BD-AE93-A347-F038-0B139344E46E}"/>
              </a:ext>
            </a:extLst>
          </p:cNvPr>
          <p:cNvSpPr/>
          <p:nvPr/>
        </p:nvSpPr>
        <p:spPr>
          <a:xfrm>
            <a:off x="6832032" y="3445903"/>
            <a:ext cx="2185901" cy="430187"/>
          </a:xfrm>
          <a:prstGeom prst="rect">
            <a:avLst/>
          </a:prstGeom>
          <a:solidFill>
            <a:schemeClr val="tx1">
              <a:lumMod val="25000"/>
              <a:lumOff val="7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latin typeface="Comic Sans MS" panose="030F0702030302020204" pitchFamily="66" charset="0"/>
              </a:rPr>
              <a:t>{“orderId”: 24}</a:t>
            </a:r>
            <a:endParaRPr lang="en-AU" sz="1200" dirty="0">
              <a:solidFill>
                <a:schemeClr val="tx1"/>
              </a:solidFill>
              <a:latin typeface="Comic Sans MS" panose="030F0702030302020204" pitchFamily="66" charset="0"/>
            </a:endParaRPr>
          </a:p>
        </p:txBody>
      </p:sp>
      <p:sp>
        <p:nvSpPr>
          <p:cNvPr id="42" name="TextBox 41">
            <a:extLst>
              <a:ext uri="{FF2B5EF4-FFF2-40B4-BE49-F238E27FC236}">
                <a16:creationId xmlns:a16="http://schemas.microsoft.com/office/drawing/2014/main" id="{01C2585C-3CF1-7405-CD16-243B396DBBC8}"/>
              </a:ext>
            </a:extLst>
          </p:cNvPr>
          <p:cNvSpPr txBox="1"/>
          <p:nvPr/>
        </p:nvSpPr>
        <p:spPr>
          <a:xfrm>
            <a:off x="7635640" y="2746318"/>
            <a:ext cx="472886" cy="169277"/>
          </a:xfrm>
          <a:prstGeom prst="rect">
            <a:avLst/>
          </a:prstGeom>
          <a:noFill/>
        </p:spPr>
        <p:txBody>
          <a:bodyPr wrap="none" lIns="0" tIns="0" rIns="0" bIns="0" rtlCol="0">
            <a:spAutoFit/>
          </a:bodyPr>
          <a:lstStyle/>
          <a:p>
            <a:pPr algn="l"/>
            <a:r>
              <a:rPr lang="en-US" sz="1100" b="1" dirty="0"/>
              <a:t>Results</a:t>
            </a:r>
            <a:endParaRPr lang="en-AU" sz="1100" b="1" dirty="0" err="1"/>
          </a:p>
        </p:txBody>
      </p:sp>
      <p:sp>
        <p:nvSpPr>
          <p:cNvPr id="46" name="Rectangle 45">
            <a:extLst>
              <a:ext uri="{FF2B5EF4-FFF2-40B4-BE49-F238E27FC236}">
                <a16:creationId xmlns:a16="http://schemas.microsoft.com/office/drawing/2014/main" id="{A7B0D721-C036-68E6-71AD-C4407C49DBA0}"/>
              </a:ext>
            </a:extLst>
          </p:cNvPr>
          <p:cNvSpPr/>
          <p:nvPr/>
        </p:nvSpPr>
        <p:spPr>
          <a:xfrm>
            <a:off x="9607316" y="2923807"/>
            <a:ext cx="1893136" cy="875537"/>
          </a:xfrm>
          <a:prstGeom prst="rect">
            <a:avLst/>
          </a:prstGeom>
          <a:solidFill>
            <a:schemeClr val="tx2">
              <a:lumMod val="90000"/>
              <a:lumOff val="10000"/>
            </a:schemeClr>
          </a:solidFill>
          <a:ln w="28575">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2"/>
                </a:solidFill>
                <a:latin typeface="Comic Sans MS" panose="030F0702030302020204" pitchFamily="66" charset="0"/>
              </a:rPr>
              <a:t>Your order has been placed successfully.</a:t>
            </a:r>
          </a:p>
        </p:txBody>
      </p:sp>
      <p:cxnSp>
        <p:nvCxnSpPr>
          <p:cNvPr id="51" name="Straight Connector 50">
            <a:extLst>
              <a:ext uri="{FF2B5EF4-FFF2-40B4-BE49-F238E27FC236}">
                <a16:creationId xmlns:a16="http://schemas.microsoft.com/office/drawing/2014/main" id="{371C2448-302E-A53F-B832-E9436952A5E8}"/>
              </a:ext>
            </a:extLst>
          </p:cNvPr>
          <p:cNvCxnSpPr>
            <a:cxnSpLocks/>
          </p:cNvCxnSpPr>
          <p:nvPr/>
        </p:nvCxnSpPr>
        <p:spPr>
          <a:xfrm flipV="1">
            <a:off x="1153764" y="4643524"/>
            <a:ext cx="10346688" cy="2110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56" name="Arrow: Right 55">
            <a:extLst>
              <a:ext uri="{FF2B5EF4-FFF2-40B4-BE49-F238E27FC236}">
                <a16:creationId xmlns:a16="http://schemas.microsoft.com/office/drawing/2014/main" id="{B27D4B64-FA43-6899-2FA9-140A50D18BBE}"/>
              </a:ext>
            </a:extLst>
          </p:cNvPr>
          <p:cNvSpPr/>
          <p:nvPr/>
        </p:nvSpPr>
        <p:spPr>
          <a:xfrm rot="5400000" flipH="1">
            <a:off x="1883575" y="4250358"/>
            <a:ext cx="430189" cy="32072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7" name="Arrow: Right 56">
            <a:extLst>
              <a:ext uri="{FF2B5EF4-FFF2-40B4-BE49-F238E27FC236}">
                <a16:creationId xmlns:a16="http://schemas.microsoft.com/office/drawing/2014/main" id="{A3852C6E-D43A-C97F-7C25-8CE924C3B31D}"/>
              </a:ext>
            </a:extLst>
          </p:cNvPr>
          <p:cNvSpPr/>
          <p:nvPr/>
        </p:nvSpPr>
        <p:spPr>
          <a:xfrm rot="5400000">
            <a:off x="4744344" y="2390962"/>
            <a:ext cx="667512" cy="32072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Arrow: Right 57">
            <a:extLst>
              <a:ext uri="{FF2B5EF4-FFF2-40B4-BE49-F238E27FC236}">
                <a16:creationId xmlns:a16="http://schemas.microsoft.com/office/drawing/2014/main" id="{C40C3C1D-C704-AF7B-B1FB-9CB923EA73D7}"/>
              </a:ext>
            </a:extLst>
          </p:cNvPr>
          <p:cNvSpPr/>
          <p:nvPr/>
        </p:nvSpPr>
        <p:spPr>
          <a:xfrm rot="5400000">
            <a:off x="10220128" y="2371751"/>
            <a:ext cx="667512" cy="32072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9" name="Connector: Curved 58">
            <a:extLst>
              <a:ext uri="{FF2B5EF4-FFF2-40B4-BE49-F238E27FC236}">
                <a16:creationId xmlns:a16="http://schemas.microsoft.com/office/drawing/2014/main" id="{59A46B54-11C0-B47E-2C8A-3787C87E4EC6}"/>
              </a:ext>
            </a:extLst>
          </p:cNvPr>
          <p:cNvCxnSpPr>
            <a:cxnSpLocks/>
            <a:endCxn id="35" idx="1"/>
          </p:cNvCxnSpPr>
          <p:nvPr/>
        </p:nvCxnSpPr>
        <p:spPr>
          <a:xfrm rot="16200000" flipH="1">
            <a:off x="3794235" y="4249097"/>
            <a:ext cx="1574680" cy="958716"/>
          </a:xfrm>
          <a:prstGeom prst="curvedConnector2">
            <a:avLst/>
          </a:prstGeom>
          <a:ln w="38100">
            <a:solidFill>
              <a:schemeClr val="tx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cxnSp>
        <p:nvCxnSpPr>
          <p:cNvPr id="65" name="Connector: Curved 64">
            <a:extLst>
              <a:ext uri="{FF2B5EF4-FFF2-40B4-BE49-F238E27FC236}">
                <a16:creationId xmlns:a16="http://schemas.microsoft.com/office/drawing/2014/main" id="{0B6E5F39-C0B8-A98A-428F-1058DEB578E4}"/>
              </a:ext>
            </a:extLst>
          </p:cNvPr>
          <p:cNvCxnSpPr>
            <a:cxnSpLocks/>
            <a:stCxn id="37" idx="3"/>
          </p:cNvCxnSpPr>
          <p:nvPr/>
        </p:nvCxnSpPr>
        <p:spPr>
          <a:xfrm flipV="1">
            <a:off x="7246832" y="3901742"/>
            <a:ext cx="1641708" cy="2226678"/>
          </a:xfrm>
          <a:prstGeom prst="curvedConnector2">
            <a:avLst/>
          </a:prstGeom>
          <a:ln w="38100">
            <a:solidFill>
              <a:schemeClr val="tx1"/>
            </a:solidFill>
            <a:prstDash val="dash"/>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72" name="Arrow: Right 71">
            <a:extLst>
              <a:ext uri="{FF2B5EF4-FFF2-40B4-BE49-F238E27FC236}">
                <a16:creationId xmlns:a16="http://schemas.microsoft.com/office/drawing/2014/main" id="{31932CAA-90D6-53FA-C9DB-E43E646D279D}"/>
              </a:ext>
            </a:extLst>
          </p:cNvPr>
          <p:cNvSpPr/>
          <p:nvPr/>
        </p:nvSpPr>
        <p:spPr>
          <a:xfrm rot="5400000" flipH="1">
            <a:off x="1889943" y="2202083"/>
            <a:ext cx="430189" cy="32072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Arrow: Right 72">
            <a:extLst>
              <a:ext uri="{FF2B5EF4-FFF2-40B4-BE49-F238E27FC236}">
                <a16:creationId xmlns:a16="http://schemas.microsoft.com/office/drawing/2014/main" id="{C9DC706A-3103-7190-EAC7-0EB90858D7BD}"/>
              </a:ext>
            </a:extLst>
          </p:cNvPr>
          <p:cNvSpPr/>
          <p:nvPr/>
        </p:nvSpPr>
        <p:spPr>
          <a:xfrm rot="5400000" flipH="1">
            <a:off x="7708226" y="2239412"/>
            <a:ext cx="430189" cy="32072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Rectangle 74">
            <a:extLst>
              <a:ext uri="{FF2B5EF4-FFF2-40B4-BE49-F238E27FC236}">
                <a16:creationId xmlns:a16="http://schemas.microsoft.com/office/drawing/2014/main" id="{A22FFF63-1C75-5800-A393-828EF127FB31}"/>
              </a:ext>
            </a:extLst>
          </p:cNvPr>
          <p:cNvSpPr/>
          <p:nvPr/>
        </p:nvSpPr>
        <p:spPr>
          <a:xfrm>
            <a:off x="1257778" y="1267051"/>
            <a:ext cx="1694517" cy="590550"/>
          </a:xfrm>
          <a:prstGeom prst="rect">
            <a:avLst/>
          </a:prstGeom>
          <a:solidFill>
            <a:schemeClr val="tx2">
              <a:lumMod val="90000"/>
              <a:lumOff val="10000"/>
            </a:schemeClr>
          </a:solidFill>
          <a:ln w="28575">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latin typeface="Comic Sans MS" panose="030F0702030302020204" pitchFamily="66" charset="0"/>
              </a:rPr>
              <a:t>Language Model</a:t>
            </a:r>
            <a:endParaRPr lang="en-AU" sz="1400" b="1" dirty="0">
              <a:solidFill>
                <a:schemeClr val="bg1"/>
              </a:solidFill>
              <a:latin typeface="Comic Sans MS" panose="030F0702030302020204" pitchFamily="66" charset="0"/>
            </a:endParaRPr>
          </a:p>
        </p:txBody>
      </p:sp>
      <p:sp>
        <p:nvSpPr>
          <p:cNvPr id="76" name="Rectangle 75">
            <a:extLst>
              <a:ext uri="{FF2B5EF4-FFF2-40B4-BE49-F238E27FC236}">
                <a16:creationId xmlns:a16="http://schemas.microsoft.com/office/drawing/2014/main" id="{9FEB8F4F-9081-55B5-BE1C-BE04B7D1B5CF}"/>
              </a:ext>
            </a:extLst>
          </p:cNvPr>
          <p:cNvSpPr/>
          <p:nvPr/>
        </p:nvSpPr>
        <p:spPr>
          <a:xfrm>
            <a:off x="1156259" y="4966068"/>
            <a:ext cx="2157917" cy="590550"/>
          </a:xfrm>
          <a:prstGeom prst="rect">
            <a:avLst/>
          </a:prstGeom>
          <a:solidFill>
            <a:schemeClr val="tx2">
              <a:lumMod val="90000"/>
              <a:lumOff val="10000"/>
            </a:schemeClr>
          </a:solidFill>
          <a:ln w="28575">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Comic Sans MS" panose="030F0702030302020204" pitchFamily="66" charset="0"/>
              </a:rPr>
              <a:t>AI Application</a:t>
            </a:r>
          </a:p>
        </p:txBody>
      </p:sp>
    </p:spTree>
    <p:extLst>
      <p:ext uri="{BB962C8B-B14F-4D97-AF65-F5344CB8AC3E}">
        <p14:creationId xmlns:p14="http://schemas.microsoft.com/office/powerpoint/2010/main" val="3975557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42" presetClass="path" presetSubtype="0" decel="100000" fill="hold" grpId="1" nodeType="withEffect">
                                  <p:stCondLst>
                                    <p:cond delay="50"/>
                                  </p:stCondLst>
                                  <p:childTnLst>
                                    <p:animMotion origin="layout" path="M 4.16667E-6 2.22222E-6 L 4.16667E-6 0.03541 " pathEditMode="relative" rAng="0" ptsTypes="AA">
                                      <p:cBhvr>
                                        <p:cTn id="9" dur="700" spd="-100000" fill="hold"/>
                                        <p:tgtEl>
                                          <p:spTgt spid="15"/>
                                        </p:tgtEl>
                                        <p:attrNameLst>
                                          <p:attrName>ppt_x</p:attrName>
                                          <p:attrName>ppt_y</p:attrName>
                                        </p:attrNameLst>
                                      </p:cBhvr>
                                      <p:rCtr x="0" y="175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5" grpId="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386</TotalTime>
  <Words>320</Words>
  <Application>Microsoft Office PowerPoint</Application>
  <PresentationFormat>Widescreen</PresentationFormat>
  <Paragraphs>54</Paragraphs>
  <Slides>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Aptos Display</vt:lpstr>
      <vt:lpstr>Arial</vt:lpstr>
      <vt:lpstr>Comic Sans MS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Rakesh Lakshminarayana (Agile Insights)</dc:creator>
  <cp:lastModifiedBy>Rakesh Lakshminarayana (Agile Insights)</cp:lastModifiedBy>
  <cp:revision>31</cp:revision>
  <dcterms:created xsi:type="dcterms:W3CDTF">2025-05-13T01:45:44Z</dcterms:created>
  <dcterms:modified xsi:type="dcterms:W3CDTF">2025-11-08T07:55:16Z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283520-1c8e-42d2-9694-49d7ad25ef82_Enabled">
    <vt:lpwstr>true</vt:lpwstr>
  </property>
  <property fmtid="{D5CDD505-2E9C-101B-9397-08002B2CF9AE}" pid="3" name="MSIP_Label_19283520-1c8e-42d2-9694-49d7ad25ef82_SetDate">
    <vt:lpwstr>2025-05-13T01:45:47Z</vt:lpwstr>
  </property>
  <property fmtid="{D5CDD505-2E9C-101B-9397-08002B2CF9AE}" pid="4" name="MSIP_Label_19283520-1c8e-42d2-9694-49d7ad25ef82_Method">
    <vt:lpwstr>Standard</vt:lpwstr>
  </property>
  <property fmtid="{D5CDD505-2E9C-101B-9397-08002B2CF9AE}" pid="5" name="MSIP_Label_19283520-1c8e-42d2-9694-49d7ad25ef82_Name">
    <vt:lpwstr>Official</vt:lpwstr>
  </property>
  <property fmtid="{D5CDD505-2E9C-101B-9397-08002B2CF9AE}" pid="6" name="MSIP_Label_19283520-1c8e-42d2-9694-49d7ad25ef82_SiteId">
    <vt:lpwstr>036f815c-3d92-42f2-a595-d69e17a03194</vt:lpwstr>
  </property>
  <property fmtid="{D5CDD505-2E9C-101B-9397-08002B2CF9AE}" pid="7" name="MSIP_Label_19283520-1c8e-42d2-9694-49d7ad25ef82_ActionId">
    <vt:lpwstr>8d5f06c2-b587-44ae-816e-081185d0860d</vt:lpwstr>
  </property>
  <property fmtid="{D5CDD505-2E9C-101B-9397-08002B2CF9AE}" pid="8" name="MSIP_Label_19283520-1c8e-42d2-9694-49d7ad25ef82_ContentBits">
    <vt:lpwstr>0</vt:lpwstr>
  </property>
  <property fmtid="{D5CDD505-2E9C-101B-9397-08002B2CF9AE}" pid="9" name="MSIP_Label_19283520-1c8e-42d2-9694-49d7ad25ef82_Tag">
    <vt:lpwstr>10, 3, 0, 1</vt:lpwstr>
  </property>
</Properties>
</file>