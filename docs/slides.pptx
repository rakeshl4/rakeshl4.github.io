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0" r:id="rId3"/>
    <p:sldId id="257" r:id="rId4"/>
    <p:sldId id="258" r:id="rId5"/>
    <p:sldId id="259" r:id="rId6"/>
    <p:sldId id="2147483639" r:id="rId7"/>
    <p:sldId id="214748364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CBAAE-1A7D-45AB-8CBB-D941E7B0FC5E}" type="datetimeFigureOut">
              <a:rPr lang="en-AU" smtClean="0"/>
              <a:t>8/11/2025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B28D4-A384-4D13-B57C-E7F8BF29F9BE}" type="slidenum">
              <a:rPr lang="en-AU" smtClean="0"/>
              <a:t>‹#›</a:t>
            </a:fld>
            <a:endParaRPr lang="en-AU"/>
          </a:p>
        </p:txBody>
      </p:sp>
    </p:spTree>
    <p:extLst>
      <p:ext uri="{BB962C8B-B14F-4D97-AF65-F5344CB8AC3E}">
        <p14:creationId xmlns:p14="http://schemas.microsoft.com/office/powerpoint/2010/main" val="3782531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EB6A-917F-F398-2BE3-8F10C5E6E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4C757-2713-9AAD-F7D0-0C896A4185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5E3D978-367F-BD57-260B-AB9151BF11B3}"/>
              </a:ext>
            </a:extLst>
          </p:cNvPr>
          <p:cNvSpPr>
            <a:spLocks noGrp="1"/>
          </p:cNvSpPr>
          <p:nvPr>
            <p:ph type="body" idx="1"/>
          </p:nvPr>
        </p:nvSpPr>
        <p:spPr/>
        <p:txBody>
          <a:bodyPr/>
          <a:lstStyle/>
          <a:p>
            <a:r>
              <a:rPr lang="en-US" sz="882" b="1" kern="1200" dirty="0">
                <a:solidFill>
                  <a:schemeClr val="tx1"/>
                </a:solidFill>
                <a:effectLst/>
                <a:latin typeface="Segoe UI" panose="020B0502040204020203" pitchFamily="34" charset="0"/>
                <a:ea typeface="+mn-ea"/>
                <a:cs typeface="+mn-cs"/>
              </a:rPr>
              <a:t>### Evolution of AI Agents – How does Function Calling work?</a:t>
            </a:r>
            <a:endParaRPr lang="en-US" sz="882" b="0" kern="1200" dirty="0">
              <a:solidFill>
                <a:schemeClr val="tx1"/>
              </a:solidFill>
              <a:effectLst/>
              <a:latin typeface="Segoe UI" panose="020B0502040204020203" pitchFamily="34" charset="0"/>
              <a:ea typeface="+mn-ea"/>
              <a:cs typeface="+mn-cs"/>
            </a:endParaRPr>
          </a:p>
          <a:p>
            <a:br>
              <a:rPr lang="en-US" sz="882" b="0" kern="1200" dirty="0">
                <a:solidFill>
                  <a:schemeClr val="tx1"/>
                </a:solidFill>
                <a:effectLst/>
                <a:latin typeface="Segoe UI" panose="020B0502040204020203" pitchFamily="34" charset="0"/>
                <a:ea typeface="+mn-ea"/>
                <a:cs typeface="+mn-cs"/>
              </a:rPr>
            </a:br>
            <a:r>
              <a:rPr lang="en-US" sz="882" b="0" kern="1200" dirty="0">
                <a:solidFill>
                  <a:schemeClr val="tx1"/>
                </a:solidFill>
                <a:effectLst/>
                <a:latin typeface="Segoe UI" panose="020B0502040204020203" pitchFamily="34" charset="0"/>
                <a:ea typeface="+mn-ea"/>
                <a:cs typeface="+mn-cs"/>
              </a:rPr>
              <a:t>Some models support function calling. The way this works is that you can define a set of functions that the model can call. These functions have specific parameters that the model needs to fill in based on the context of the conversation. The model returns a structured output that includes the function name and the parameters required for the function call. If the parameters are not available in the context, the model will continue the conversation to ask the user for the required information.</a:t>
            </a:r>
          </a:p>
          <a:p>
            <a:br>
              <a:rPr lang="en-US" sz="882" b="0" kern="1200" dirty="0">
                <a:solidFill>
                  <a:schemeClr val="tx1"/>
                </a:solidFill>
                <a:effectLst/>
                <a:latin typeface="Segoe UI" panose="020B0502040204020203" pitchFamily="34" charset="0"/>
                <a:ea typeface="+mn-ea"/>
                <a:cs typeface="+mn-cs"/>
              </a:rPr>
            </a:br>
            <a:r>
              <a:rPr lang="en-US" sz="882" b="0" kern="1200" dirty="0">
                <a:solidFill>
                  <a:schemeClr val="tx1"/>
                </a:solidFill>
                <a:effectLst/>
                <a:latin typeface="Segoe UI" panose="020B0502040204020203" pitchFamily="34" charset="0"/>
                <a:ea typeface="+mn-ea"/>
                <a:cs typeface="+mn-cs"/>
              </a:rPr>
              <a:t>Your host application will respond to the function call by executing the function and returning the result to the model.  This cycle continues until the model has all the information it needs to generate a final response.</a:t>
            </a:r>
          </a:p>
          <a:p>
            <a:endParaRPr lang="en-US" sz="882" b="0" kern="1200" dirty="0">
              <a:solidFill>
                <a:schemeClr val="tx1"/>
              </a:solidFill>
              <a:effectLst/>
              <a:latin typeface="Segoe UI" panose="020B0502040204020203" pitchFamily="34" charset="0"/>
              <a:ea typeface="+mn-ea"/>
              <a:cs typeface="+mn-cs"/>
            </a:endParaRPr>
          </a:p>
        </p:txBody>
      </p:sp>
      <p:sp>
        <p:nvSpPr>
          <p:cNvPr id="4" name="Header Placeholder 3">
            <a:extLst>
              <a:ext uri="{FF2B5EF4-FFF2-40B4-BE49-F238E27FC236}">
                <a16:creationId xmlns:a16="http://schemas.microsoft.com/office/drawing/2014/main" id="{142A6BD3-9CDB-9FF5-5064-A4739D00767D}"/>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588298B1-C469-8467-EEA5-170916464F5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E5B9F8F-204C-4AF1-D7FB-0DF2A1D55003}"/>
              </a:ext>
            </a:extLst>
          </p:cNvPr>
          <p:cNvSpPr>
            <a:spLocks noGrp="1"/>
          </p:cNvSpPr>
          <p:nvPr>
            <p:ph type="dt" idx="1"/>
          </p:nvPr>
        </p:nvSpPr>
        <p:spPr/>
        <p:txBody>
          <a:bodyPr/>
          <a:lstStyle/>
          <a:p>
            <a:fld id="{386CE63F-9E7F-4C04-9D0D-FCA25A8E9E86}" type="datetime8">
              <a:rPr lang="en-US" smtClean="0"/>
              <a:t>11/8/2025 7:11 PM</a:t>
            </a:fld>
            <a:endParaRPr lang="en-US"/>
          </a:p>
        </p:txBody>
      </p:sp>
      <p:sp>
        <p:nvSpPr>
          <p:cNvPr id="7" name="Slide Number Placeholder 6">
            <a:extLst>
              <a:ext uri="{FF2B5EF4-FFF2-40B4-BE49-F238E27FC236}">
                <a16:creationId xmlns:a16="http://schemas.microsoft.com/office/drawing/2014/main" id="{FDFC5605-14A9-5EF5-5699-7B7F32DBABEC}"/>
              </a:ext>
            </a:extLst>
          </p:cNvPr>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717890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8624-DA6B-1B2E-2265-74E7DE35F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050C3-C1E7-58AC-793A-786E6FC4103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4597B7-0B95-6AC1-9F7E-3F9D4BF7FC45}"/>
              </a:ext>
            </a:extLst>
          </p:cNvPr>
          <p:cNvSpPr>
            <a:spLocks noGrp="1"/>
          </p:cNvSpPr>
          <p:nvPr>
            <p:ph type="body" idx="1"/>
          </p:nvPr>
        </p:nvSpPr>
        <p:spPr/>
        <p:txBody>
          <a:bodyPr/>
          <a:lstStyle/>
          <a:p>
            <a:r>
              <a:rPr lang="en-US" sz="882" b="1" kern="1200" dirty="0">
                <a:solidFill>
                  <a:schemeClr val="tx1"/>
                </a:solidFill>
                <a:effectLst/>
                <a:latin typeface="Segoe UI" panose="020B0502040204020203" pitchFamily="34" charset="0"/>
                <a:ea typeface="+mn-ea"/>
                <a:cs typeface="+mn-cs"/>
              </a:rPr>
              <a:t>### Evolution of AI Agents – How does Function Calling work?</a:t>
            </a:r>
            <a:endParaRPr lang="en-US" sz="882" b="0" kern="1200" dirty="0">
              <a:solidFill>
                <a:schemeClr val="tx1"/>
              </a:solidFill>
              <a:effectLst/>
              <a:latin typeface="Segoe UI" panose="020B0502040204020203" pitchFamily="34" charset="0"/>
              <a:ea typeface="+mn-ea"/>
              <a:cs typeface="+mn-cs"/>
            </a:endParaRPr>
          </a:p>
          <a:p>
            <a:br>
              <a:rPr lang="en-US" sz="882" b="0" kern="1200" dirty="0">
                <a:solidFill>
                  <a:schemeClr val="tx1"/>
                </a:solidFill>
                <a:effectLst/>
                <a:latin typeface="Segoe UI" panose="020B0502040204020203" pitchFamily="34" charset="0"/>
                <a:ea typeface="+mn-ea"/>
                <a:cs typeface="+mn-cs"/>
              </a:rPr>
            </a:br>
            <a:r>
              <a:rPr lang="en-US" sz="882" b="0" kern="1200" dirty="0">
                <a:solidFill>
                  <a:schemeClr val="tx1"/>
                </a:solidFill>
                <a:effectLst/>
                <a:latin typeface="Segoe UI" panose="020B0502040204020203" pitchFamily="34" charset="0"/>
                <a:ea typeface="+mn-ea"/>
                <a:cs typeface="+mn-cs"/>
              </a:rPr>
              <a:t>Some models support function calling. The way this works is that you can define a set of functions that the model can call. These functions have specific parameters that the model needs to fill in based on the context of the conversation. The model returns a structured output that includes the function name and the parameters required for the function call. If the parameters are not available in the context, the model will continue the conversation to ask the user for the required information.</a:t>
            </a:r>
          </a:p>
          <a:p>
            <a:br>
              <a:rPr lang="en-US" sz="882" b="0" kern="1200" dirty="0">
                <a:solidFill>
                  <a:schemeClr val="tx1"/>
                </a:solidFill>
                <a:effectLst/>
                <a:latin typeface="Segoe UI" panose="020B0502040204020203" pitchFamily="34" charset="0"/>
                <a:ea typeface="+mn-ea"/>
                <a:cs typeface="+mn-cs"/>
              </a:rPr>
            </a:br>
            <a:r>
              <a:rPr lang="en-US" sz="882" b="0" kern="1200" dirty="0">
                <a:solidFill>
                  <a:schemeClr val="tx1"/>
                </a:solidFill>
                <a:effectLst/>
                <a:latin typeface="Segoe UI" panose="020B0502040204020203" pitchFamily="34" charset="0"/>
                <a:ea typeface="+mn-ea"/>
                <a:cs typeface="+mn-cs"/>
              </a:rPr>
              <a:t>Your host application will respond to the function call by executing the function and returning the result to the model.  This cycle continues until the model has all the information it needs to generate a final response.</a:t>
            </a:r>
          </a:p>
          <a:p>
            <a:endParaRPr lang="en-US" sz="882" b="0" kern="1200" dirty="0">
              <a:solidFill>
                <a:schemeClr val="tx1"/>
              </a:solidFill>
              <a:effectLst/>
              <a:latin typeface="Segoe UI" panose="020B0502040204020203" pitchFamily="34" charset="0"/>
              <a:ea typeface="+mn-ea"/>
              <a:cs typeface="+mn-cs"/>
            </a:endParaRPr>
          </a:p>
        </p:txBody>
      </p:sp>
      <p:sp>
        <p:nvSpPr>
          <p:cNvPr id="4" name="Header Placeholder 3">
            <a:extLst>
              <a:ext uri="{FF2B5EF4-FFF2-40B4-BE49-F238E27FC236}">
                <a16:creationId xmlns:a16="http://schemas.microsoft.com/office/drawing/2014/main" id="{AE5E5892-5C63-870D-0158-39243630453F}"/>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71E87257-92A5-8F77-9161-C6703D15009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278DCE2-59DF-A0D1-2610-C856C2C93C90}"/>
              </a:ext>
            </a:extLst>
          </p:cNvPr>
          <p:cNvSpPr>
            <a:spLocks noGrp="1"/>
          </p:cNvSpPr>
          <p:nvPr>
            <p:ph type="dt" idx="1"/>
          </p:nvPr>
        </p:nvSpPr>
        <p:spPr/>
        <p:txBody>
          <a:bodyPr/>
          <a:lstStyle/>
          <a:p>
            <a:fld id="{386CE63F-9E7F-4C04-9D0D-FCA25A8E9E86}" type="datetime8">
              <a:rPr lang="en-US" smtClean="0"/>
              <a:t>11/8/2025 7:32 PM</a:t>
            </a:fld>
            <a:endParaRPr lang="en-US"/>
          </a:p>
        </p:txBody>
      </p:sp>
      <p:sp>
        <p:nvSpPr>
          <p:cNvPr id="7" name="Slide Number Placeholder 6">
            <a:extLst>
              <a:ext uri="{FF2B5EF4-FFF2-40B4-BE49-F238E27FC236}">
                <a16:creationId xmlns:a16="http://schemas.microsoft.com/office/drawing/2014/main" id="{29FEC882-E80A-A329-B77A-F2B28D30B7F5}"/>
              </a:ext>
            </a:extLst>
          </p:cNvPr>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760569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32061-F560-1891-1C09-2AD4CF0668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20E5785-7218-C016-C210-F1913C80DB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7B1DDE9-B0F6-E549-44F8-2AE4D4859643}"/>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04183A8E-BB7F-AEA7-2809-72342D773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EEA0021-B7D6-6886-BE3B-719FED3C46FA}"/>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342070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D49A-1D1F-A1B4-35AC-EBF1F79EFE8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B40CDA4-5935-E950-426D-CF35E3D7CC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A1A1350-6557-FFA3-6BC8-C69D37FE99B4}"/>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75B7AFEA-C9AD-AEA4-7AC6-FF6BF1CAE0D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3813EA2-0572-0BB9-1988-1104AEE86ABC}"/>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150888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67E5-26B8-735E-4665-07AA9B2E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DAEF26D-329F-3B11-90B8-8EFAF2FED2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CC879C-C428-7871-5E7E-903467B82C30}"/>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B1D75853-C531-7411-4E67-761FF44AC65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B3BC915-C6CC-10E3-8037-1A6235CD53D9}"/>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4160178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6F2AE-55D3-381D-2406-2A2161CCFE8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CFA0D05-80D3-EDCB-5D87-7CF70F8F7A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FE58BA6-9F78-A6AA-0478-1E9F1E2917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80C1298-4236-6EFC-9526-637FE04192EE}"/>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6" name="Footer Placeholder 5">
            <a:extLst>
              <a:ext uri="{FF2B5EF4-FFF2-40B4-BE49-F238E27FC236}">
                <a16:creationId xmlns:a16="http://schemas.microsoft.com/office/drawing/2014/main" id="{074FF82D-3682-3901-4E3B-CD28DCD01A9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E3F8FA5-9B73-AE2C-99D5-E68A5443D759}"/>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838440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31F0C-D6EC-C08E-BBA0-6CFB18D4FDA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14D7F88-69E2-363A-80AF-69458E12F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CAAA09-60EF-A77F-E8DF-5DBE85C11E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369447F-B2A8-425F-CBE5-05C8FEEB3E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F16B33-A41A-E972-637A-0156DFD87F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E14EACE-BBC3-E3CA-9F9F-4456C0E92861}"/>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8" name="Footer Placeholder 7">
            <a:extLst>
              <a:ext uri="{FF2B5EF4-FFF2-40B4-BE49-F238E27FC236}">
                <a16:creationId xmlns:a16="http://schemas.microsoft.com/office/drawing/2014/main" id="{C027F7E6-EA1C-E59E-660A-468FC28171A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21B518-2796-4F54-7389-DFCDE9605BAF}"/>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269661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122A-3185-7BA3-1B8C-6414D3BBE71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A7DEED6-1CE0-5446-10AA-8985C356E64A}"/>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4" name="Footer Placeholder 3">
            <a:extLst>
              <a:ext uri="{FF2B5EF4-FFF2-40B4-BE49-F238E27FC236}">
                <a16:creationId xmlns:a16="http://schemas.microsoft.com/office/drawing/2014/main" id="{DFF4BE97-9774-20B3-2674-D5549A49FDC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ADF0015-B183-CD30-C307-80754AC4F195}"/>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99497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CA97F4-DF05-29D6-8B61-C0D0614572ED}"/>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3" name="Footer Placeholder 2">
            <a:extLst>
              <a:ext uri="{FF2B5EF4-FFF2-40B4-BE49-F238E27FC236}">
                <a16:creationId xmlns:a16="http://schemas.microsoft.com/office/drawing/2014/main" id="{00D5779C-7B25-658B-1515-885CFC88BBB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C602EC4-C4D1-7898-3BC6-344622861BB5}"/>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991546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BF20-C99F-D586-D1F0-732FA2117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FEF0F32-8821-E4CA-E2AA-D4A7B4AC1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DAFFF4F-1360-58E3-1306-B6D72AF1AB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BAE94-AD62-2F70-B264-481D253D4406}"/>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6" name="Footer Placeholder 5">
            <a:extLst>
              <a:ext uri="{FF2B5EF4-FFF2-40B4-BE49-F238E27FC236}">
                <a16:creationId xmlns:a16="http://schemas.microsoft.com/office/drawing/2014/main" id="{AAEDC1A2-CFE9-8A7F-79D5-389F5F6A443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11403FF-B67C-099D-8486-3C5B4D15E245}"/>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429130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F5D8-6DD8-8988-2A73-68548B0F3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207AA4E-554B-D83F-B6EA-EE22DE8AC5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DCF7E160-DD85-09F0-2C7D-C16180C74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DF372-6886-A900-DC55-5DC290892C0E}"/>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6" name="Footer Placeholder 5">
            <a:extLst>
              <a:ext uri="{FF2B5EF4-FFF2-40B4-BE49-F238E27FC236}">
                <a16:creationId xmlns:a16="http://schemas.microsoft.com/office/drawing/2014/main" id="{E9A0587F-2759-A9E2-8923-E7B85ADD01E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CCFAF61-4CFE-E283-2B1F-A2934A82738B}"/>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2248947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B6B95-DABF-4B81-2A92-7A8BB143A2F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CD801BC-B180-661D-9DA8-B4D0DBF3BE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7FF92FB-10D7-A974-BC59-29EBF215FCC2}"/>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89CA5B23-12E7-D6A5-FF20-E5B2CC8EEF4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EF2E86F-F378-D964-5022-6CC69F8C28A7}"/>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284906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C9015E-5153-258B-56FB-D22A706D17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9ED3D3E-31DB-7835-84EC-DAC2D67673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AE2B59D-5B5C-079C-096A-777F409A7A05}"/>
              </a:ext>
            </a:extLst>
          </p:cNvPr>
          <p:cNvSpPr>
            <a:spLocks noGrp="1"/>
          </p:cNvSpPr>
          <p:nvPr>
            <p:ph type="dt" sz="half" idx="10"/>
          </p:nvPr>
        </p:nvSpPr>
        <p:spPr/>
        <p:txBody>
          <a:body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80F803A0-5E43-58A5-7211-041E29E226E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E76A1E-B164-4852-A139-9275AC365E26}"/>
              </a:ext>
            </a:extLst>
          </p:cNvPr>
          <p:cNvSpPr>
            <a:spLocks noGrp="1"/>
          </p:cNvSpPr>
          <p:nvPr>
            <p:ph type="sldNum" sz="quarter" idx="12"/>
          </p:nvPr>
        </p:nvSpPr>
        <p:spPr/>
        <p:txBody>
          <a:bodyPr/>
          <a:lstStyle/>
          <a:p>
            <a:fld id="{F03FE4DE-4D06-4595-A549-91BCEF1CA1BD}" type="slidenum">
              <a:rPr lang="en-AU" smtClean="0"/>
              <a:t>‹#›</a:t>
            </a:fld>
            <a:endParaRPr lang="en-AU"/>
          </a:p>
        </p:txBody>
      </p:sp>
    </p:spTree>
    <p:extLst>
      <p:ext uri="{BB962C8B-B14F-4D97-AF65-F5344CB8AC3E}">
        <p14:creationId xmlns:p14="http://schemas.microsoft.com/office/powerpoint/2010/main" val="4016917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FF1A14-A363-BCC1-5EDA-CDF89600E1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9FD2540-467A-C6F9-2823-DD21ADC09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778B39E-ED58-EA5D-2FB1-AFB20FDFD5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62DCD5-2B82-4D20-85CF-992EA875ACA0}" type="datetimeFigureOut">
              <a:rPr lang="en-AU" smtClean="0"/>
              <a:t>8/11/2025</a:t>
            </a:fld>
            <a:endParaRPr lang="en-AU"/>
          </a:p>
        </p:txBody>
      </p:sp>
      <p:sp>
        <p:nvSpPr>
          <p:cNvPr id="5" name="Footer Placeholder 4">
            <a:extLst>
              <a:ext uri="{FF2B5EF4-FFF2-40B4-BE49-F238E27FC236}">
                <a16:creationId xmlns:a16="http://schemas.microsoft.com/office/drawing/2014/main" id="{AE70F943-5051-62D1-2C1B-847724710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AA521D25-4E62-596F-81BE-C6D56A9DA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3FE4DE-4D06-4595-A549-91BCEF1CA1BD}" type="slidenum">
              <a:rPr lang="en-AU" smtClean="0"/>
              <a:t>‹#›</a:t>
            </a:fld>
            <a:endParaRPr lang="en-AU"/>
          </a:p>
        </p:txBody>
      </p:sp>
    </p:spTree>
    <p:extLst>
      <p:ext uri="{BB962C8B-B14F-4D97-AF65-F5344CB8AC3E}">
        <p14:creationId xmlns:p14="http://schemas.microsoft.com/office/powerpoint/2010/main" val="2774224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E36DA-A183-D77A-C3C8-39EBE965DE64}"/>
              </a:ext>
            </a:extLst>
          </p:cNvPr>
          <p:cNvSpPr>
            <a:spLocks noGrp="1"/>
          </p:cNvSpPr>
          <p:nvPr>
            <p:ph type="ctrTitle"/>
          </p:nvPr>
        </p:nvSpPr>
        <p:spPr/>
        <p:txBody>
          <a:bodyPr/>
          <a:lstStyle/>
          <a:p>
            <a:endParaRPr lang="en-AU"/>
          </a:p>
        </p:txBody>
      </p:sp>
      <p:sp>
        <p:nvSpPr>
          <p:cNvPr id="3" name="Subtitle 2">
            <a:extLst>
              <a:ext uri="{FF2B5EF4-FFF2-40B4-BE49-F238E27FC236}">
                <a16:creationId xmlns:a16="http://schemas.microsoft.com/office/drawing/2014/main" id="{0BEBA5DF-ED76-FACC-E484-3B62AA3CAB47}"/>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1428880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8FC4AEB-4726-F24E-51ED-5E5780885814}"/>
              </a:ext>
            </a:extLst>
          </p:cNvPr>
          <p:cNvCxnSpPr>
            <a:cxnSpLocks/>
          </p:cNvCxnSpPr>
          <p:nvPr/>
        </p:nvCxnSpPr>
        <p:spPr>
          <a:xfrm>
            <a:off x="5610313" y="1734061"/>
            <a:ext cx="0" cy="288544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0B3078C-D6C0-11AE-ED7C-89E40C431E79}"/>
              </a:ext>
            </a:extLst>
          </p:cNvPr>
          <p:cNvCxnSpPr/>
          <p:nvPr/>
        </p:nvCxnSpPr>
        <p:spPr>
          <a:xfrm>
            <a:off x="5062045" y="2242145"/>
            <a:ext cx="50705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D9F3B2D-ED91-4760-1C61-6122EB0A4FAC}"/>
              </a:ext>
            </a:extLst>
          </p:cNvPr>
          <p:cNvSpPr/>
          <p:nvPr/>
        </p:nvSpPr>
        <p:spPr>
          <a:xfrm>
            <a:off x="3836490" y="1964110"/>
            <a:ext cx="1249680" cy="59055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Text Input</a:t>
            </a:r>
            <a:endParaRPr lang="en-AU" sz="1600" dirty="0">
              <a:solidFill>
                <a:schemeClr val="tx1"/>
              </a:solidFill>
              <a:latin typeface="Comic Sans MS" panose="030F0702030302020204" pitchFamily="66" charset="0"/>
            </a:endParaRPr>
          </a:p>
        </p:txBody>
      </p:sp>
      <p:sp>
        <p:nvSpPr>
          <p:cNvPr id="6" name="Arrow: Right 5">
            <a:extLst>
              <a:ext uri="{FF2B5EF4-FFF2-40B4-BE49-F238E27FC236}">
                <a16:creationId xmlns:a16="http://schemas.microsoft.com/office/drawing/2014/main" id="{BAF97533-8DDA-419F-DA68-5FC359D7BE8A}"/>
              </a:ext>
            </a:extLst>
          </p:cNvPr>
          <p:cNvSpPr/>
          <p:nvPr/>
        </p:nvSpPr>
        <p:spPr>
          <a:xfrm>
            <a:off x="7600504" y="2974387"/>
            <a:ext cx="417732" cy="320726"/>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5">
            <a:extLst>
              <a:ext uri="{FF2B5EF4-FFF2-40B4-BE49-F238E27FC236}">
                <a16:creationId xmlns:a16="http://schemas.microsoft.com/office/drawing/2014/main" id="{83F85761-EEC3-0F92-DA25-581187D0A726}"/>
              </a:ext>
            </a:extLst>
          </p:cNvPr>
          <p:cNvSpPr txBox="1">
            <a:spLocks/>
          </p:cNvSpPr>
          <p:nvPr/>
        </p:nvSpPr>
        <p:spPr>
          <a:xfrm>
            <a:off x="390354" y="224883"/>
            <a:ext cx="10084739"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R="0" lvl="0" indent="0" algn="l" defTabSz="1371600" rtl="0" eaLnBrk="1" fontAlgn="auto" latinLnBrk="0" hangingPunct="1">
              <a:lnSpc>
                <a:spcPct val="100000"/>
              </a:lnSpc>
              <a:spcBef>
                <a:spcPts val="0"/>
              </a:spcBef>
              <a:spcAft>
                <a:spcPts val="0"/>
              </a:spcAft>
              <a:buClrTx/>
              <a:buSzTx/>
              <a:buFontTx/>
              <a:buNone/>
              <a:tabLst>
                <a:tab pos="1371600" algn="l"/>
              </a:tabLst>
              <a:defRPr kumimoji="0" lang="en-US" sz="2400" b="0" i="0" u="none" strike="noStrike" kern="1200" cap="none" spc="0" normalizeH="0" baseline="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mj-lt"/>
                <a:ea typeface="+mn-ea"/>
                <a:cs typeface="Segoe UI" panose="020B0502040204020203"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a:defRPr/>
            </a:pPr>
            <a:r>
              <a:rPr lang="en-US" sz="3600" dirty="0">
                <a:solidFill>
                  <a:schemeClr val="tx1"/>
                </a:solidFill>
              </a:rPr>
              <a:t>Model Context Protocol (MCP) Execution Flow</a:t>
            </a:r>
            <a:endParaRPr lang="en-US" sz="3600" b="1" spc="-50" dirty="0">
              <a:solidFill>
                <a:srgbClr val="8CADC6"/>
              </a:solidFill>
              <a:latin typeface="Segoe UI Semibold"/>
              <a:cs typeface="Segoe UI Semibold"/>
            </a:endParaRPr>
          </a:p>
        </p:txBody>
      </p:sp>
      <p:sp>
        <p:nvSpPr>
          <p:cNvPr id="9" name="Rectangle 8">
            <a:extLst>
              <a:ext uri="{FF2B5EF4-FFF2-40B4-BE49-F238E27FC236}">
                <a16:creationId xmlns:a16="http://schemas.microsoft.com/office/drawing/2014/main" id="{A371F66F-12BA-F611-AFDD-2345508E3E64}"/>
              </a:ext>
            </a:extLst>
          </p:cNvPr>
          <p:cNvSpPr/>
          <p:nvPr/>
        </p:nvSpPr>
        <p:spPr>
          <a:xfrm>
            <a:off x="10077443" y="2863281"/>
            <a:ext cx="1249680" cy="59055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Text Output</a:t>
            </a:r>
            <a:endParaRPr lang="en-AU" sz="1400" dirty="0">
              <a:solidFill>
                <a:schemeClr val="tx1"/>
              </a:solidFill>
              <a:latin typeface="Comic Sans MS" panose="030F0702030302020204" pitchFamily="66" charset="0"/>
            </a:endParaRPr>
          </a:p>
        </p:txBody>
      </p:sp>
      <p:sp>
        <p:nvSpPr>
          <p:cNvPr id="10" name="Arrow: Right 9">
            <a:extLst>
              <a:ext uri="{FF2B5EF4-FFF2-40B4-BE49-F238E27FC236}">
                <a16:creationId xmlns:a16="http://schemas.microsoft.com/office/drawing/2014/main" id="{1FD90FF3-8436-C58C-7A6E-CE994B806103}"/>
              </a:ext>
            </a:extLst>
          </p:cNvPr>
          <p:cNvSpPr/>
          <p:nvPr/>
        </p:nvSpPr>
        <p:spPr>
          <a:xfrm>
            <a:off x="9466510" y="2998193"/>
            <a:ext cx="409899" cy="320726"/>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FD2FA0A9-D86E-5B59-F59C-5BADA380F5CC}"/>
              </a:ext>
            </a:extLst>
          </p:cNvPr>
          <p:cNvSpPr/>
          <p:nvPr/>
        </p:nvSpPr>
        <p:spPr>
          <a:xfrm>
            <a:off x="8161244" y="2720719"/>
            <a:ext cx="1249680" cy="87553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omic Sans MS" panose="030F0702030302020204" pitchFamily="66" charset="0"/>
              </a:rPr>
              <a:t>Large Language Model</a:t>
            </a:r>
            <a:endParaRPr lang="en-AU" sz="1400" b="1" dirty="0">
              <a:solidFill>
                <a:schemeClr val="tx1"/>
              </a:solidFill>
              <a:latin typeface="Comic Sans MS" panose="030F0702030302020204" pitchFamily="66" charset="0"/>
            </a:endParaRPr>
          </a:p>
        </p:txBody>
      </p:sp>
      <p:cxnSp>
        <p:nvCxnSpPr>
          <p:cNvPr id="12" name="Connector: Curved 11">
            <a:extLst>
              <a:ext uri="{FF2B5EF4-FFF2-40B4-BE49-F238E27FC236}">
                <a16:creationId xmlns:a16="http://schemas.microsoft.com/office/drawing/2014/main" id="{3493E9ED-D22F-9EBF-8B7A-9220264E760C}"/>
              </a:ext>
            </a:extLst>
          </p:cNvPr>
          <p:cNvCxnSpPr>
            <a:cxnSpLocks/>
            <a:endCxn id="44" idx="0"/>
          </p:cNvCxnSpPr>
          <p:nvPr/>
        </p:nvCxnSpPr>
        <p:spPr>
          <a:xfrm rot="16200000" flipV="1">
            <a:off x="8770691" y="812931"/>
            <a:ext cx="161503" cy="3939198"/>
          </a:xfrm>
          <a:prstGeom prst="curvedConnector3">
            <a:avLst>
              <a:gd name="adj1" fmla="val 487870"/>
            </a:avLst>
          </a:prstGeom>
          <a:ln w="38100">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417C912-0D77-C014-35C7-CC0343FF9ADE}"/>
              </a:ext>
            </a:extLst>
          </p:cNvPr>
          <p:cNvSpPr/>
          <p:nvPr/>
        </p:nvSpPr>
        <p:spPr>
          <a:xfrm>
            <a:off x="2416628" y="3215674"/>
            <a:ext cx="2610303" cy="1124924"/>
          </a:xfrm>
          <a:prstGeom prst="rect">
            <a:avLst/>
          </a:prstGeom>
          <a:solidFill>
            <a:schemeClr val="bg1"/>
          </a:solidFill>
          <a:ln w="952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b="1" dirty="0">
              <a:solidFill>
                <a:schemeClr val="tx1"/>
              </a:solidFill>
              <a:latin typeface="Comic Sans MS" panose="030F0702030302020204" pitchFamily="66" charset="0"/>
            </a:endParaRPr>
          </a:p>
        </p:txBody>
      </p:sp>
      <p:sp>
        <p:nvSpPr>
          <p:cNvPr id="14" name="Rectangle 13">
            <a:extLst>
              <a:ext uri="{FF2B5EF4-FFF2-40B4-BE49-F238E27FC236}">
                <a16:creationId xmlns:a16="http://schemas.microsoft.com/office/drawing/2014/main" id="{EFE14B89-2908-42C6-22EA-0895CAFC78AD}"/>
              </a:ext>
            </a:extLst>
          </p:cNvPr>
          <p:cNvSpPr/>
          <p:nvPr/>
        </p:nvSpPr>
        <p:spPr>
          <a:xfrm>
            <a:off x="2517794" y="3852745"/>
            <a:ext cx="1185144" cy="38616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err="1">
                <a:solidFill>
                  <a:schemeClr val="tx1"/>
                </a:solidFill>
                <a:latin typeface="Comic Sans MS" panose="030F0702030302020204" pitchFamily="66" charset="0"/>
              </a:rPr>
              <a:t>search_bikes</a:t>
            </a:r>
            <a:endParaRPr lang="en-AU" sz="1100" dirty="0">
              <a:solidFill>
                <a:schemeClr val="tx1"/>
              </a:solidFill>
              <a:latin typeface="Comic Sans MS" panose="030F0702030302020204" pitchFamily="66" charset="0"/>
            </a:endParaRPr>
          </a:p>
        </p:txBody>
      </p:sp>
      <p:sp>
        <p:nvSpPr>
          <p:cNvPr id="15" name="Rectangle 14">
            <a:extLst>
              <a:ext uri="{FF2B5EF4-FFF2-40B4-BE49-F238E27FC236}">
                <a16:creationId xmlns:a16="http://schemas.microsoft.com/office/drawing/2014/main" id="{8F4CEF61-4C95-817C-A938-8274310B6C7B}"/>
              </a:ext>
            </a:extLst>
          </p:cNvPr>
          <p:cNvSpPr/>
          <p:nvPr/>
        </p:nvSpPr>
        <p:spPr>
          <a:xfrm>
            <a:off x="2986352" y="3316837"/>
            <a:ext cx="1474978" cy="362256"/>
          </a:xfrm>
          <a:prstGeom prst="rect">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Comic Sans MS" panose="030F0702030302020204" pitchFamily="66" charset="0"/>
              </a:rPr>
              <a:t>Tools</a:t>
            </a:r>
            <a:endParaRPr lang="en-AU" sz="1400" b="1" dirty="0">
              <a:solidFill>
                <a:schemeClr val="bg1"/>
              </a:solidFill>
              <a:latin typeface="Comic Sans MS" panose="030F0702030302020204" pitchFamily="66" charset="0"/>
            </a:endParaRPr>
          </a:p>
        </p:txBody>
      </p:sp>
      <p:sp>
        <p:nvSpPr>
          <p:cNvPr id="16" name="Rectangle 15">
            <a:extLst>
              <a:ext uri="{FF2B5EF4-FFF2-40B4-BE49-F238E27FC236}">
                <a16:creationId xmlns:a16="http://schemas.microsoft.com/office/drawing/2014/main" id="{9F7ADF34-15B2-1C9A-D142-ECFEC199CE9D}"/>
              </a:ext>
            </a:extLst>
          </p:cNvPr>
          <p:cNvSpPr/>
          <p:nvPr/>
        </p:nvSpPr>
        <p:spPr>
          <a:xfrm>
            <a:off x="3836490" y="3852745"/>
            <a:ext cx="1090812" cy="3861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err="1">
                <a:solidFill>
                  <a:srgbClr val="0070C0"/>
                </a:solidFill>
                <a:latin typeface="Comic Sans MS" panose="030F0702030302020204" pitchFamily="66" charset="0"/>
              </a:rPr>
              <a:t>submit_order</a:t>
            </a:r>
            <a:endParaRPr lang="en-AU" sz="1100" dirty="0">
              <a:solidFill>
                <a:srgbClr val="0070C0"/>
              </a:solidFill>
              <a:latin typeface="Comic Sans MS" panose="030F0702030302020204" pitchFamily="66" charset="0"/>
            </a:endParaRPr>
          </a:p>
        </p:txBody>
      </p:sp>
      <p:sp>
        <p:nvSpPr>
          <p:cNvPr id="17" name="Arrow: Right 16">
            <a:extLst>
              <a:ext uri="{FF2B5EF4-FFF2-40B4-BE49-F238E27FC236}">
                <a16:creationId xmlns:a16="http://schemas.microsoft.com/office/drawing/2014/main" id="{23B4A5D0-5C4E-104C-498D-48B392B678FE}"/>
              </a:ext>
            </a:extLst>
          </p:cNvPr>
          <p:cNvSpPr/>
          <p:nvPr/>
        </p:nvSpPr>
        <p:spPr>
          <a:xfrm>
            <a:off x="5685797" y="2957063"/>
            <a:ext cx="485546" cy="33615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9" name="Connector: Curved 18">
            <a:extLst>
              <a:ext uri="{FF2B5EF4-FFF2-40B4-BE49-F238E27FC236}">
                <a16:creationId xmlns:a16="http://schemas.microsoft.com/office/drawing/2014/main" id="{4B451167-5AE9-0349-D19B-E80A95082BB4}"/>
              </a:ext>
            </a:extLst>
          </p:cNvPr>
          <p:cNvCxnSpPr>
            <a:cxnSpLocks/>
          </p:cNvCxnSpPr>
          <p:nvPr/>
        </p:nvCxnSpPr>
        <p:spPr>
          <a:xfrm rot="5400000">
            <a:off x="6329584" y="4483673"/>
            <a:ext cx="1654450" cy="201"/>
          </a:xfrm>
          <a:prstGeom prst="curvedConnector3">
            <a:avLst>
              <a:gd name="adj1" fmla="val 50000"/>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EB653B-3ECB-C800-C117-5049668112C4}"/>
              </a:ext>
            </a:extLst>
          </p:cNvPr>
          <p:cNvCxnSpPr/>
          <p:nvPr/>
        </p:nvCxnSpPr>
        <p:spPr>
          <a:xfrm>
            <a:off x="5103259" y="3769430"/>
            <a:ext cx="50705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8E78FBE-4A0B-3505-1070-BEDF0149F8FD}"/>
              </a:ext>
            </a:extLst>
          </p:cNvPr>
          <p:cNvSpPr txBox="1"/>
          <p:nvPr/>
        </p:nvSpPr>
        <p:spPr>
          <a:xfrm>
            <a:off x="8020741" y="1610951"/>
            <a:ext cx="1434688" cy="276999"/>
          </a:xfrm>
          <a:prstGeom prst="rect">
            <a:avLst/>
          </a:prstGeom>
          <a:noFill/>
        </p:spPr>
        <p:txBody>
          <a:bodyPr wrap="none" lIns="0" tIns="0" rIns="0" bIns="0" rtlCol="0">
            <a:spAutoFit/>
          </a:bodyPr>
          <a:lstStyle/>
          <a:p>
            <a:pPr algn="l"/>
            <a:r>
              <a:rPr lang="en-US" sz="1800" b="1" dirty="0">
                <a:solidFill>
                  <a:srgbClr val="2A446F"/>
                </a:solidFill>
                <a:latin typeface="Comic Sans MS" panose="030F0702030302020204" pitchFamily="66" charset="0"/>
              </a:rPr>
              <a:t>Tool Request</a:t>
            </a:r>
          </a:p>
        </p:txBody>
      </p:sp>
      <p:cxnSp>
        <p:nvCxnSpPr>
          <p:cNvPr id="28" name="Connector: Curved 27">
            <a:extLst>
              <a:ext uri="{FF2B5EF4-FFF2-40B4-BE49-F238E27FC236}">
                <a16:creationId xmlns:a16="http://schemas.microsoft.com/office/drawing/2014/main" id="{9433E52F-B776-BB9C-6532-17F781638FBC}"/>
              </a:ext>
            </a:extLst>
          </p:cNvPr>
          <p:cNvCxnSpPr>
            <a:cxnSpLocks/>
            <a:endCxn id="16" idx="2"/>
          </p:cNvCxnSpPr>
          <p:nvPr/>
        </p:nvCxnSpPr>
        <p:spPr>
          <a:xfrm rot="10800000">
            <a:off x="4381896" y="4238906"/>
            <a:ext cx="2713616" cy="1017666"/>
          </a:xfrm>
          <a:prstGeom prst="curvedConnector2">
            <a:avLst/>
          </a:prstGeom>
          <a:ln w="38100">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FA7722-9932-7418-3A35-A00D1010412D}"/>
              </a:ext>
            </a:extLst>
          </p:cNvPr>
          <p:cNvSpPr/>
          <p:nvPr/>
        </p:nvSpPr>
        <p:spPr>
          <a:xfrm>
            <a:off x="6257003" y="2701778"/>
            <a:ext cx="1249680" cy="87553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Comic Sans MS" panose="030F0702030302020204" pitchFamily="66" charset="0"/>
              </a:rPr>
              <a:t>AI Application</a:t>
            </a:r>
          </a:p>
        </p:txBody>
      </p:sp>
      <p:sp>
        <p:nvSpPr>
          <p:cNvPr id="54" name="Rectangle 53">
            <a:extLst>
              <a:ext uri="{FF2B5EF4-FFF2-40B4-BE49-F238E27FC236}">
                <a16:creationId xmlns:a16="http://schemas.microsoft.com/office/drawing/2014/main" id="{81454B9C-AC76-15A5-CC96-4DC0A0C743E4}"/>
              </a:ext>
            </a:extLst>
          </p:cNvPr>
          <p:cNvSpPr/>
          <p:nvPr/>
        </p:nvSpPr>
        <p:spPr>
          <a:xfrm>
            <a:off x="6436615" y="1440472"/>
            <a:ext cx="1317794" cy="3861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0070C0"/>
                </a:solidFill>
                <a:latin typeface="Comic Sans MS" panose="030F0702030302020204" pitchFamily="66" charset="0"/>
              </a:rPr>
              <a:t>structured data</a:t>
            </a:r>
            <a:endParaRPr lang="en-AU" sz="1100" dirty="0">
              <a:solidFill>
                <a:srgbClr val="0070C0"/>
              </a:solidFill>
              <a:latin typeface="Comic Sans MS" panose="030F0702030302020204" pitchFamily="66" charset="0"/>
            </a:endParaRPr>
          </a:p>
        </p:txBody>
      </p:sp>
    </p:spTree>
    <p:extLst>
      <p:ext uri="{BB962C8B-B14F-4D97-AF65-F5344CB8AC3E}">
        <p14:creationId xmlns:p14="http://schemas.microsoft.com/office/powerpoint/2010/main" val="829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50"/>
                                  </p:stCondLst>
                                  <p:childTnLst>
                                    <p:animMotion origin="layout" path="M 4.16667E-6 2.22222E-6 L 4.16667E-6 0.03541 " pathEditMode="relative" rAng="0" ptsTypes="AA">
                                      <p:cBhvr>
                                        <p:cTn id="9" dur="700" spd="-100000" fill="hold"/>
                                        <p:tgtEl>
                                          <p:spTgt spid="7"/>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5D8615-A52C-821D-8A63-73BD8C14E777}"/>
              </a:ext>
            </a:extLst>
          </p:cNvPr>
          <p:cNvSpPr/>
          <p:nvPr/>
        </p:nvSpPr>
        <p:spPr>
          <a:xfrm>
            <a:off x="4524374" y="1087451"/>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System Instructions</a:t>
            </a:r>
            <a:endParaRPr lang="en-AU" sz="1400" dirty="0">
              <a:solidFill>
                <a:schemeClr val="tx1"/>
              </a:solidFill>
              <a:latin typeface="Comic Sans MS" panose="030F0702030302020204" pitchFamily="66" charset="0"/>
            </a:endParaRPr>
          </a:p>
        </p:txBody>
      </p:sp>
      <p:sp>
        <p:nvSpPr>
          <p:cNvPr id="3" name="Rectangle 2">
            <a:extLst>
              <a:ext uri="{FF2B5EF4-FFF2-40B4-BE49-F238E27FC236}">
                <a16:creationId xmlns:a16="http://schemas.microsoft.com/office/drawing/2014/main" id="{D9B4C143-17C1-E959-0D99-2B6297D6F036}"/>
              </a:ext>
            </a:extLst>
          </p:cNvPr>
          <p:cNvSpPr/>
          <p:nvPr/>
        </p:nvSpPr>
        <p:spPr>
          <a:xfrm>
            <a:off x="3954075" y="1910411"/>
            <a:ext cx="1857375" cy="98679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mic Sans MS" panose="030F0702030302020204" pitchFamily="66" charset="0"/>
              </a:rPr>
              <a:t>Primary Content</a:t>
            </a:r>
            <a:endParaRPr lang="en-AU" b="1" dirty="0">
              <a:solidFill>
                <a:schemeClr val="tx1"/>
              </a:solidFill>
              <a:latin typeface="Comic Sans MS" panose="030F0702030302020204" pitchFamily="66" charset="0"/>
            </a:endParaRPr>
          </a:p>
        </p:txBody>
      </p:sp>
      <p:pic>
        <p:nvPicPr>
          <p:cNvPr id="5" name="Picture 4">
            <a:extLst>
              <a:ext uri="{FF2B5EF4-FFF2-40B4-BE49-F238E27FC236}">
                <a16:creationId xmlns:a16="http://schemas.microsoft.com/office/drawing/2014/main" id="{B06FA3FC-A3A1-3DB4-4B65-37C7D5FEADFE}"/>
              </a:ext>
            </a:extLst>
          </p:cNvPr>
          <p:cNvPicPr>
            <a:picLocks noChangeAspect="1"/>
          </p:cNvPicPr>
          <p:nvPr/>
        </p:nvPicPr>
        <p:blipFill>
          <a:blip r:embed="rId2"/>
          <a:stretch>
            <a:fillRect/>
          </a:stretch>
        </p:blipFill>
        <p:spPr>
          <a:xfrm>
            <a:off x="7560042" y="2230450"/>
            <a:ext cx="1596150" cy="1610029"/>
          </a:xfrm>
          <a:prstGeom prst="rect">
            <a:avLst/>
          </a:prstGeom>
        </p:spPr>
      </p:pic>
      <p:cxnSp>
        <p:nvCxnSpPr>
          <p:cNvPr id="7" name="Straight Connector 6">
            <a:extLst>
              <a:ext uri="{FF2B5EF4-FFF2-40B4-BE49-F238E27FC236}">
                <a16:creationId xmlns:a16="http://schemas.microsoft.com/office/drawing/2014/main" id="{4C151CED-F2E0-C26D-EC35-1338B0ADF27E}"/>
              </a:ext>
            </a:extLst>
          </p:cNvPr>
          <p:cNvCxnSpPr>
            <a:cxnSpLocks/>
          </p:cNvCxnSpPr>
          <p:nvPr/>
        </p:nvCxnSpPr>
        <p:spPr>
          <a:xfrm>
            <a:off x="6400800" y="621792"/>
            <a:ext cx="0" cy="5559552"/>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F2E6D86-F300-3C99-7864-B18FF1FED4A7}"/>
              </a:ext>
            </a:extLst>
          </p:cNvPr>
          <p:cNvCxnSpPr/>
          <p:nvPr/>
        </p:nvCxnSpPr>
        <p:spPr>
          <a:xfrm>
            <a:off x="5811450" y="1371600"/>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C4B4E21-BCCF-730A-026D-C91EC97083F2}"/>
              </a:ext>
            </a:extLst>
          </p:cNvPr>
          <p:cNvCxnSpPr/>
          <p:nvPr/>
        </p:nvCxnSpPr>
        <p:spPr>
          <a:xfrm>
            <a:off x="5811450" y="2374392"/>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49BF86C-F23D-F49D-7A87-96403DDDD373}"/>
              </a:ext>
            </a:extLst>
          </p:cNvPr>
          <p:cNvCxnSpPr/>
          <p:nvPr/>
        </p:nvCxnSpPr>
        <p:spPr>
          <a:xfrm>
            <a:off x="5811450" y="343742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3458C137-40A5-4549-903A-59BC3D940F4D}"/>
              </a:ext>
            </a:extLst>
          </p:cNvPr>
          <p:cNvSpPr/>
          <p:nvPr/>
        </p:nvSpPr>
        <p:spPr>
          <a:xfrm>
            <a:off x="4520240" y="3145193"/>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Tools</a:t>
            </a:r>
            <a:endParaRPr lang="en-AU" sz="1600" dirty="0">
              <a:solidFill>
                <a:schemeClr val="tx1"/>
              </a:solidFill>
              <a:latin typeface="Comic Sans MS" panose="030F0702030302020204" pitchFamily="66" charset="0"/>
            </a:endParaRPr>
          </a:p>
        </p:txBody>
      </p:sp>
      <p:sp>
        <p:nvSpPr>
          <p:cNvPr id="13" name="Rectangle 12">
            <a:extLst>
              <a:ext uri="{FF2B5EF4-FFF2-40B4-BE49-F238E27FC236}">
                <a16:creationId xmlns:a16="http://schemas.microsoft.com/office/drawing/2014/main" id="{14E8DF0E-90E2-E0B6-EE64-952F821D897E}"/>
              </a:ext>
            </a:extLst>
          </p:cNvPr>
          <p:cNvSpPr/>
          <p:nvPr/>
        </p:nvSpPr>
        <p:spPr>
          <a:xfrm>
            <a:off x="4087372" y="4202849"/>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Input &amp; Output Samples</a:t>
            </a:r>
            <a:endParaRPr lang="en-AU" sz="1400" dirty="0">
              <a:solidFill>
                <a:schemeClr val="tx1"/>
              </a:solidFill>
              <a:latin typeface="Comic Sans MS" panose="030F0702030302020204" pitchFamily="66" charset="0"/>
            </a:endParaRPr>
          </a:p>
        </p:txBody>
      </p:sp>
      <p:sp>
        <p:nvSpPr>
          <p:cNvPr id="14" name="Rectangle 13">
            <a:extLst>
              <a:ext uri="{FF2B5EF4-FFF2-40B4-BE49-F238E27FC236}">
                <a16:creationId xmlns:a16="http://schemas.microsoft.com/office/drawing/2014/main" id="{A9AFF604-6C34-00E2-9991-834C6BD5A249}"/>
              </a:ext>
            </a:extLst>
          </p:cNvPr>
          <p:cNvSpPr/>
          <p:nvPr/>
        </p:nvSpPr>
        <p:spPr>
          <a:xfrm>
            <a:off x="4128902" y="5148757"/>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Supporting Data</a:t>
            </a:r>
            <a:endParaRPr lang="en-AU" sz="1400" dirty="0">
              <a:solidFill>
                <a:schemeClr val="tx1"/>
              </a:solidFill>
              <a:latin typeface="Comic Sans MS" panose="030F0702030302020204" pitchFamily="66" charset="0"/>
            </a:endParaRPr>
          </a:p>
        </p:txBody>
      </p:sp>
      <p:cxnSp>
        <p:nvCxnSpPr>
          <p:cNvPr id="16" name="Straight Connector 15">
            <a:extLst>
              <a:ext uri="{FF2B5EF4-FFF2-40B4-BE49-F238E27FC236}">
                <a16:creationId xmlns:a16="http://schemas.microsoft.com/office/drawing/2014/main" id="{1BB849F6-20B2-72AC-0C55-EFE8EB545CAA}"/>
              </a:ext>
            </a:extLst>
          </p:cNvPr>
          <p:cNvCxnSpPr/>
          <p:nvPr/>
        </p:nvCxnSpPr>
        <p:spPr>
          <a:xfrm>
            <a:off x="5811450" y="4503496"/>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C57B846-7257-D46D-B320-4CC56D95DCF8}"/>
              </a:ext>
            </a:extLst>
          </p:cNvPr>
          <p:cNvCxnSpPr/>
          <p:nvPr/>
        </p:nvCxnSpPr>
        <p:spPr>
          <a:xfrm>
            <a:off x="5893746" y="541820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1DF06518-3B92-E682-1D12-8928DA417679}"/>
              </a:ext>
            </a:extLst>
          </p:cNvPr>
          <p:cNvSpPr/>
          <p:nvPr/>
        </p:nvSpPr>
        <p:spPr>
          <a:xfrm>
            <a:off x="1591054" y="2079117"/>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User Prompt</a:t>
            </a:r>
            <a:endParaRPr lang="en-AU" sz="1600" dirty="0">
              <a:solidFill>
                <a:schemeClr val="tx1"/>
              </a:solidFill>
              <a:latin typeface="Comic Sans MS" panose="030F0702030302020204" pitchFamily="66" charset="0"/>
            </a:endParaRPr>
          </a:p>
        </p:txBody>
      </p:sp>
      <p:sp>
        <p:nvSpPr>
          <p:cNvPr id="19" name="Arrow: Right 18">
            <a:extLst>
              <a:ext uri="{FF2B5EF4-FFF2-40B4-BE49-F238E27FC236}">
                <a16:creationId xmlns:a16="http://schemas.microsoft.com/office/drawing/2014/main" id="{0EE13336-B4C9-E537-6908-CCE3FDE8554F}"/>
              </a:ext>
            </a:extLst>
          </p:cNvPr>
          <p:cNvSpPr/>
          <p:nvPr/>
        </p:nvSpPr>
        <p:spPr>
          <a:xfrm>
            <a:off x="3035808" y="2230450"/>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3B99D5DB-C6DC-D871-6FC9-10ADEF7B4A47}"/>
              </a:ext>
            </a:extLst>
          </p:cNvPr>
          <p:cNvSpPr/>
          <p:nvPr/>
        </p:nvSpPr>
        <p:spPr>
          <a:xfrm>
            <a:off x="6693791" y="2897201"/>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111C420B-C650-D4E6-5F0C-6937E6ED8FD7}"/>
              </a:ext>
            </a:extLst>
          </p:cNvPr>
          <p:cNvSpPr/>
          <p:nvPr/>
        </p:nvSpPr>
        <p:spPr>
          <a:xfrm>
            <a:off x="9596246" y="2762289"/>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LLM Response</a:t>
            </a:r>
            <a:endParaRPr lang="en-AU" sz="1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628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81954-F936-730A-F88F-8057409EEC5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7792F3-D64D-03C7-BFCC-EE36E74F4012}"/>
              </a:ext>
            </a:extLst>
          </p:cNvPr>
          <p:cNvSpPr/>
          <p:nvPr/>
        </p:nvSpPr>
        <p:spPr>
          <a:xfrm>
            <a:off x="4524374" y="1087451"/>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System Instructions</a:t>
            </a:r>
            <a:endParaRPr lang="en-AU" sz="1400" dirty="0">
              <a:solidFill>
                <a:schemeClr val="tx1"/>
              </a:solidFill>
              <a:latin typeface="Comic Sans MS" panose="030F0702030302020204" pitchFamily="66" charset="0"/>
            </a:endParaRPr>
          </a:p>
        </p:txBody>
      </p:sp>
      <p:sp>
        <p:nvSpPr>
          <p:cNvPr id="3" name="Rectangle 2">
            <a:extLst>
              <a:ext uri="{FF2B5EF4-FFF2-40B4-BE49-F238E27FC236}">
                <a16:creationId xmlns:a16="http://schemas.microsoft.com/office/drawing/2014/main" id="{5291871F-50B3-22D2-EC01-F424783993E6}"/>
              </a:ext>
            </a:extLst>
          </p:cNvPr>
          <p:cNvSpPr/>
          <p:nvPr/>
        </p:nvSpPr>
        <p:spPr>
          <a:xfrm>
            <a:off x="3954075" y="1910411"/>
            <a:ext cx="1857375" cy="98679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mic Sans MS" panose="030F0702030302020204" pitchFamily="66" charset="0"/>
              </a:rPr>
              <a:t>Primary Content</a:t>
            </a:r>
            <a:endParaRPr lang="en-AU" b="1" dirty="0">
              <a:solidFill>
                <a:schemeClr val="tx1"/>
              </a:solidFill>
              <a:latin typeface="Comic Sans MS" panose="030F0702030302020204" pitchFamily="66" charset="0"/>
            </a:endParaRPr>
          </a:p>
        </p:txBody>
      </p:sp>
      <p:pic>
        <p:nvPicPr>
          <p:cNvPr id="5" name="Picture 4">
            <a:extLst>
              <a:ext uri="{FF2B5EF4-FFF2-40B4-BE49-F238E27FC236}">
                <a16:creationId xmlns:a16="http://schemas.microsoft.com/office/drawing/2014/main" id="{53D926FC-B01A-B1F3-80B9-43D7F7F921D2}"/>
              </a:ext>
            </a:extLst>
          </p:cNvPr>
          <p:cNvPicPr>
            <a:picLocks noChangeAspect="1"/>
          </p:cNvPicPr>
          <p:nvPr/>
        </p:nvPicPr>
        <p:blipFill>
          <a:blip r:embed="rId2"/>
          <a:stretch>
            <a:fillRect/>
          </a:stretch>
        </p:blipFill>
        <p:spPr>
          <a:xfrm>
            <a:off x="7560042" y="2230450"/>
            <a:ext cx="1596150" cy="1610029"/>
          </a:xfrm>
          <a:prstGeom prst="rect">
            <a:avLst/>
          </a:prstGeom>
        </p:spPr>
      </p:pic>
      <p:cxnSp>
        <p:nvCxnSpPr>
          <p:cNvPr id="7" name="Straight Connector 6">
            <a:extLst>
              <a:ext uri="{FF2B5EF4-FFF2-40B4-BE49-F238E27FC236}">
                <a16:creationId xmlns:a16="http://schemas.microsoft.com/office/drawing/2014/main" id="{C1A9C881-5B22-275B-2746-94D4E30DEF03}"/>
              </a:ext>
            </a:extLst>
          </p:cNvPr>
          <p:cNvCxnSpPr>
            <a:cxnSpLocks/>
          </p:cNvCxnSpPr>
          <p:nvPr/>
        </p:nvCxnSpPr>
        <p:spPr>
          <a:xfrm>
            <a:off x="6400800" y="621792"/>
            <a:ext cx="0" cy="5365407"/>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36FCEA5-5E49-90A2-7B5F-10CE7A803434}"/>
              </a:ext>
            </a:extLst>
          </p:cNvPr>
          <p:cNvCxnSpPr/>
          <p:nvPr/>
        </p:nvCxnSpPr>
        <p:spPr>
          <a:xfrm>
            <a:off x="5811450" y="1371600"/>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91BE203-16E5-C19F-4F87-91D1FB5C9CBF}"/>
              </a:ext>
            </a:extLst>
          </p:cNvPr>
          <p:cNvCxnSpPr/>
          <p:nvPr/>
        </p:nvCxnSpPr>
        <p:spPr>
          <a:xfrm>
            <a:off x="5811450" y="2374392"/>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DF05C65-7DFF-D9DD-1BA4-064D2846FAF3}"/>
              </a:ext>
            </a:extLst>
          </p:cNvPr>
          <p:cNvCxnSpPr/>
          <p:nvPr/>
        </p:nvCxnSpPr>
        <p:spPr>
          <a:xfrm>
            <a:off x="5811450" y="343742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2FB88087-6423-8A73-428E-8BB250DDCE46}"/>
              </a:ext>
            </a:extLst>
          </p:cNvPr>
          <p:cNvSpPr/>
          <p:nvPr/>
        </p:nvSpPr>
        <p:spPr>
          <a:xfrm>
            <a:off x="4520240" y="3145193"/>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Tools</a:t>
            </a:r>
            <a:endParaRPr lang="en-AU" sz="1600" dirty="0">
              <a:solidFill>
                <a:schemeClr val="tx1"/>
              </a:solidFill>
              <a:latin typeface="Comic Sans MS" panose="030F0702030302020204" pitchFamily="66" charset="0"/>
            </a:endParaRPr>
          </a:p>
        </p:txBody>
      </p:sp>
      <p:sp>
        <p:nvSpPr>
          <p:cNvPr id="13" name="Rectangle 12">
            <a:extLst>
              <a:ext uri="{FF2B5EF4-FFF2-40B4-BE49-F238E27FC236}">
                <a16:creationId xmlns:a16="http://schemas.microsoft.com/office/drawing/2014/main" id="{A1CC5314-3BAE-C097-8F96-2F7D411C0B9B}"/>
              </a:ext>
            </a:extLst>
          </p:cNvPr>
          <p:cNvSpPr/>
          <p:nvPr/>
        </p:nvSpPr>
        <p:spPr>
          <a:xfrm>
            <a:off x="4087372" y="4202849"/>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Input &amp; Output Samples</a:t>
            </a:r>
            <a:endParaRPr lang="en-AU" sz="1400" dirty="0">
              <a:solidFill>
                <a:schemeClr val="tx1"/>
              </a:solidFill>
              <a:latin typeface="Comic Sans MS" panose="030F0702030302020204" pitchFamily="66" charset="0"/>
            </a:endParaRPr>
          </a:p>
        </p:txBody>
      </p:sp>
      <p:sp>
        <p:nvSpPr>
          <p:cNvPr id="14" name="Rectangle 13">
            <a:extLst>
              <a:ext uri="{FF2B5EF4-FFF2-40B4-BE49-F238E27FC236}">
                <a16:creationId xmlns:a16="http://schemas.microsoft.com/office/drawing/2014/main" id="{13662F1D-7FE0-BCC9-228A-C4F225DBE855}"/>
              </a:ext>
            </a:extLst>
          </p:cNvPr>
          <p:cNvSpPr/>
          <p:nvPr/>
        </p:nvSpPr>
        <p:spPr>
          <a:xfrm>
            <a:off x="4128902" y="5148757"/>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Supporting Data</a:t>
            </a:r>
            <a:endParaRPr lang="en-AU" sz="1400" dirty="0">
              <a:solidFill>
                <a:schemeClr val="tx1"/>
              </a:solidFill>
              <a:latin typeface="Comic Sans MS" panose="030F0702030302020204" pitchFamily="66" charset="0"/>
            </a:endParaRPr>
          </a:p>
        </p:txBody>
      </p:sp>
      <p:cxnSp>
        <p:nvCxnSpPr>
          <p:cNvPr id="16" name="Straight Connector 15">
            <a:extLst>
              <a:ext uri="{FF2B5EF4-FFF2-40B4-BE49-F238E27FC236}">
                <a16:creationId xmlns:a16="http://schemas.microsoft.com/office/drawing/2014/main" id="{442A933A-C212-43B3-1FD1-AB6867EEE1C3}"/>
              </a:ext>
            </a:extLst>
          </p:cNvPr>
          <p:cNvCxnSpPr/>
          <p:nvPr/>
        </p:nvCxnSpPr>
        <p:spPr>
          <a:xfrm>
            <a:off x="5811450" y="4503496"/>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1E2BC9-71AD-02F5-A114-E9198D7B6E2A}"/>
              </a:ext>
            </a:extLst>
          </p:cNvPr>
          <p:cNvCxnSpPr/>
          <p:nvPr/>
        </p:nvCxnSpPr>
        <p:spPr>
          <a:xfrm>
            <a:off x="5893746" y="541820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0E64F43C-6F8D-9792-5D7E-245227465220}"/>
              </a:ext>
            </a:extLst>
          </p:cNvPr>
          <p:cNvSpPr/>
          <p:nvPr/>
        </p:nvSpPr>
        <p:spPr>
          <a:xfrm>
            <a:off x="1591054" y="2079117"/>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User Prompt</a:t>
            </a:r>
            <a:endParaRPr lang="en-AU" sz="1600" dirty="0">
              <a:solidFill>
                <a:schemeClr val="tx1"/>
              </a:solidFill>
              <a:latin typeface="Comic Sans MS" panose="030F0702030302020204" pitchFamily="66" charset="0"/>
            </a:endParaRPr>
          </a:p>
        </p:txBody>
      </p:sp>
      <p:sp>
        <p:nvSpPr>
          <p:cNvPr id="19" name="Arrow: Right 18">
            <a:extLst>
              <a:ext uri="{FF2B5EF4-FFF2-40B4-BE49-F238E27FC236}">
                <a16:creationId xmlns:a16="http://schemas.microsoft.com/office/drawing/2014/main" id="{08BCFE8F-0004-8751-57FE-4BB97ABB6DFC}"/>
              </a:ext>
            </a:extLst>
          </p:cNvPr>
          <p:cNvSpPr/>
          <p:nvPr/>
        </p:nvSpPr>
        <p:spPr>
          <a:xfrm>
            <a:off x="3035808" y="2230450"/>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C3C2F393-51C0-C799-97EE-35CD5F9E6450}"/>
              </a:ext>
            </a:extLst>
          </p:cNvPr>
          <p:cNvSpPr/>
          <p:nvPr/>
        </p:nvSpPr>
        <p:spPr>
          <a:xfrm>
            <a:off x="6693791" y="2897201"/>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F7E7629A-3AAA-4AA2-C132-07C92916085F}"/>
              </a:ext>
            </a:extLst>
          </p:cNvPr>
          <p:cNvSpPr/>
          <p:nvPr/>
        </p:nvSpPr>
        <p:spPr>
          <a:xfrm>
            <a:off x="10111122" y="2713945"/>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LLM Response</a:t>
            </a:r>
            <a:endParaRPr lang="en-AU" sz="1400" dirty="0">
              <a:solidFill>
                <a:schemeClr val="tx1"/>
              </a:solidFill>
              <a:latin typeface="Comic Sans MS" panose="030F0702030302020204" pitchFamily="66" charset="0"/>
            </a:endParaRPr>
          </a:p>
        </p:txBody>
      </p:sp>
      <p:sp>
        <p:nvSpPr>
          <p:cNvPr id="6" name="Diamond 5">
            <a:extLst>
              <a:ext uri="{FF2B5EF4-FFF2-40B4-BE49-F238E27FC236}">
                <a16:creationId xmlns:a16="http://schemas.microsoft.com/office/drawing/2014/main" id="{611FF6B5-6A24-680D-BF14-99717ED2229D}"/>
              </a:ext>
            </a:extLst>
          </p:cNvPr>
          <p:cNvSpPr/>
          <p:nvPr/>
        </p:nvSpPr>
        <p:spPr>
          <a:xfrm>
            <a:off x="8127998" y="4844199"/>
            <a:ext cx="1596149" cy="11430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mic Sans MS" panose="030F0702030302020204" pitchFamily="66" charset="0"/>
              </a:rPr>
              <a:t>Tool Call ?</a:t>
            </a:r>
            <a:endParaRPr lang="en-AU" dirty="0">
              <a:latin typeface="Comic Sans MS" panose="030F0702030302020204" pitchFamily="66" charset="0"/>
            </a:endParaRPr>
          </a:p>
        </p:txBody>
      </p:sp>
      <p:cxnSp>
        <p:nvCxnSpPr>
          <p:cNvPr id="15" name="Connector: Curved 14">
            <a:extLst>
              <a:ext uri="{FF2B5EF4-FFF2-40B4-BE49-F238E27FC236}">
                <a16:creationId xmlns:a16="http://schemas.microsoft.com/office/drawing/2014/main" id="{C07194BD-F327-1538-08B1-ECD90D4C951D}"/>
              </a:ext>
            </a:extLst>
          </p:cNvPr>
          <p:cNvCxnSpPr>
            <a:cxnSpLocks/>
            <a:stCxn id="21" idx="2"/>
          </p:cNvCxnSpPr>
          <p:nvPr/>
        </p:nvCxnSpPr>
        <p:spPr>
          <a:xfrm rot="5400000">
            <a:off x="9174454" y="3854191"/>
            <a:ext cx="2111205" cy="1011813"/>
          </a:xfrm>
          <a:prstGeom prst="curvedConnector3">
            <a:avLst>
              <a:gd name="adj1" fmla="val 98726"/>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Curved 24">
            <a:extLst>
              <a:ext uri="{FF2B5EF4-FFF2-40B4-BE49-F238E27FC236}">
                <a16:creationId xmlns:a16="http://schemas.microsoft.com/office/drawing/2014/main" id="{D8BED507-CFAA-BED2-7CB1-B0A7EB665613}"/>
              </a:ext>
            </a:extLst>
          </p:cNvPr>
          <p:cNvCxnSpPr>
            <a:cxnSpLocks/>
            <a:stCxn id="6" idx="1"/>
            <a:endCxn id="14" idx="2"/>
          </p:cNvCxnSpPr>
          <p:nvPr/>
        </p:nvCxnSpPr>
        <p:spPr>
          <a:xfrm rot="10800000" flipV="1">
            <a:off x="4970176" y="5415699"/>
            <a:ext cx="3157822" cy="323608"/>
          </a:xfrm>
          <a:prstGeom prst="curvedConnector4">
            <a:avLst>
              <a:gd name="adj1" fmla="val 36680"/>
              <a:gd name="adj2" fmla="val 247244"/>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1" name="Arrow: Right 30">
            <a:extLst>
              <a:ext uri="{FF2B5EF4-FFF2-40B4-BE49-F238E27FC236}">
                <a16:creationId xmlns:a16="http://schemas.microsoft.com/office/drawing/2014/main" id="{7D388698-6B47-5B61-D85C-56FFFFEFB163}"/>
              </a:ext>
            </a:extLst>
          </p:cNvPr>
          <p:cNvSpPr/>
          <p:nvPr/>
        </p:nvSpPr>
        <p:spPr>
          <a:xfrm>
            <a:off x="9126666" y="2902028"/>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Rectangle 33">
            <a:extLst>
              <a:ext uri="{FF2B5EF4-FFF2-40B4-BE49-F238E27FC236}">
                <a16:creationId xmlns:a16="http://schemas.microsoft.com/office/drawing/2014/main" id="{9F3F8DBF-6E83-A505-A05A-DF80943F4DF3}"/>
              </a:ext>
            </a:extLst>
          </p:cNvPr>
          <p:cNvSpPr/>
          <p:nvPr/>
        </p:nvSpPr>
        <p:spPr>
          <a:xfrm>
            <a:off x="8212412" y="6060960"/>
            <a:ext cx="237938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Trigger tool and return results to LLM</a:t>
            </a:r>
            <a:endParaRPr lang="en-AU"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9781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4572E-53DA-BAA3-2BFB-D0D0305C6D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BA710C-047A-566E-235C-BECA650F2554}"/>
              </a:ext>
            </a:extLst>
          </p:cNvPr>
          <p:cNvSpPr/>
          <p:nvPr/>
        </p:nvSpPr>
        <p:spPr>
          <a:xfrm>
            <a:off x="4524374" y="1087451"/>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System Instructions</a:t>
            </a:r>
            <a:endParaRPr lang="en-AU" sz="1400" dirty="0">
              <a:solidFill>
                <a:schemeClr val="tx1"/>
              </a:solidFill>
              <a:latin typeface="Comic Sans MS" panose="030F0702030302020204" pitchFamily="66" charset="0"/>
            </a:endParaRPr>
          </a:p>
        </p:txBody>
      </p:sp>
      <p:sp>
        <p:nvSpPr>
          <p:cNvPr id="3" name="Rectangle 2">
            <a:extLst>
              <a:ext uri="{FF2B5EF4-FFF2-40B4-BE49-F238E27FC236}">
                <a16:creationId xmlns:a16="http://schemas.microsoft.com/office/drawing/2014/main" id="{12500464-61BF-6A1B-11B5-493067111E12}"/>
              </a:ext>
            </a:extLst>
          </p:cNvPr>
          <p:cNvSpPr/>
          <p:nvPr/>
        </p:nvSpPr>
        <p:spPr>
          <a:xfrm>
            <a:off x="3954075" y="1910411"/>
            <a:ext cx="1857375" cy="98679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mic Sans MS" panose="030F0702030302020204" pitchFamily="66" charset="0"/>
              </a:rPr>
              <a:t>Primary Content</a:t>
            </a:r>
            <a:endParaRPr lang="en-AU" b="1" dirty="0">
              <a:solidFill>
                <a:schemeClr val="tx1"/>
              </a:solidFill>
              <a:latin typeface="Comic Sans MS" panose="030F0702030302020204" pitchFamily="66" charset="0"/>
            </a:endParaRPr>
          </a:p>
        </p:txBody>
      </p:sp>
      <p:pic>
        <p:nvPicPr>
          <p:cNvPr id="5" name="Picture 4">
            <a:extLst>
              <a:ext uri="{FF2B5EF4-FFF2-40B4-BE49-F238E27FC236}">
                <a16:creationId xmlns:a16="http://schemas.microsoft.com/office/drawing/2014/main" id="{304C2F72-5D9B-A15D-2192-C8A877EA757D}"/>
              </a:ext>
            </a:extLst>
          </p:cNvPr>
          <p:cNvPicPr>
            <a:picLocks noChangeAspect="1"/>
          </p:cNvPicPr>
          <p:nvPr/>
        </p:nvPicPr>
        <p:blipFill>
          <a:blip r:embed="rId2"/>
          <a:stretch>
            <a:fillRect/>
          </a:stretch>
        </p:blipFill>
        <p:spPr>
          <a:xfrm>
            <a:off x="7560042" y="2230450"/>
            <a:ext cx="1596150" cy="1610029"/>
          </a:xfrm>
          <a:prstGeom prst="rect">
            <a:avLst/>
          </a:prstGeom>
        </p:spPr>
      </p:pic>
      <p:cxnSp>
        <p:nvCxnSpPr>
          <p:cNvPr id="7" name="Straight Connector 6">
            <a:extLst>
              <a:ext uri="{FF2B5EF4-FFF2-40B4-BE49-F238E27FC236}">
                <a16:creationId xmlns:a16="http://schemas.microsoft.com/office/drawing/2014/main" id="{09A995F1-1E72-C978-3717-6382AB39577F}"/>
              </a:ext>
            </a:extLst>
          </p:cNvPr>
          <p:cNvCxnSpPr>
            <a:cxnSpLocks/>
          </p:cNvCxnSpPr>
          <p:nvPr/>
        </p:nvCxnSpPr>
        <p:spPr>
          <a:xfrm>
            <a:off x="6400800" y="621792"/>
            <a:ext cx="0" cy="5559552"/>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E48007E-8B89-FE27-C0CF-7F15E39D846F}"/>
              </a:ext>
            </a:extLst>
          </p:cNvPr>
          <p:cNvCxnSpPr/>
          <p:nvPr/>
        </p:nvCxnSpPr>
        <p:spPr>
          <a:xfrm>
            <a:off x="5811450" y="1371600"/>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B8421-7152-18D2-ECEF-AF557B298F82}"/>
              </a:ext>
            </a:extLst>
          </p:cNvPr>
          <p:cNvCxnSpPr/>
          <p:nvPr/>
        </p:nvCxnSpPr>
        <p:spPr>
          <a:xfrm>
            <a:off x="5811450" y="2374392"/>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211448A-485A-0316-6336-1F6D7C072CB9}"/>
              </a:ext>
            </a:extLst>
          </p:cNvPr>
          <p:cNvCxnSpPr/>
          <p:nvPr/>
        </p:nvCxnSpPr>
        <p:spPr>
          <a:xfrm>
            <a:off x="5811450" y="343742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2A44AB1F-62D7-B845-88ED-009FDD335EC2}"/>
              </a:ext>
            </a:extLst>
          </p:cNvPr>
          <p:cNvSpPr/>
          <p:nvPr/>
        </p:nvSpPr>
        <p:spPr>
          <a:xfrm>
            <a:off x="4520240" y="3145193"/>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Tools</a:t>
            </a:r>
            <a:endParaRPr lang="en-AU" sz="1600" dirty="0">
              <a:solidFill>
                <a:schemeClr val="tx1"/>
              </a:solidFill>
              <a:latin typeface="Comic Sans MS" panose="030F0702030302020204" pitchFamily="66" charset="0"/>
            </a:endParaRPr>
          </a:p>
        </p:txBody>
      </p:sp>
      <p:sp>
        <p:nvSpPr>
          <p:cNvPr id="13" name="Rectangle 12">
            <a:extLst>
              <a:ext uri="{FF2B5EF4-FFF2-40B4-BE49-F238E27FC236}">
                <a16:creationId xmlns:a16="http://schemas.microsoft.com/office/drawing/2014/main" id="{C9EC7B47-EA16-31D1-1AA3-9D004AD06812}"/>
              </a:ext>
            </a:extLst>
          </p:cNvPr>
          <p:cNvSpPr/>
          <p:nvPr/>
        </p:nvSpPr>
        <p:spPr>
          <a:xfrm>
            <a:off x="4087372" y="4202849"/>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Input &amp; Output Samples</a:t>
            </a:r>
            <a:endParaRPr lang="en-AU" sz="1400" dirty="0">
              <a:solidFill>
                <a:schemeClr val="tx1"/>
              </a:solidFill>
              <a:latin typeface="Comic Sans MS" panose="030F0702030302020204" pitchFamily="66" charset="0"/>
            </a:endParaRPr>
          </a:p>
        </p:txBody>
      </p:sp>
      <p:sp>
        <p:nvSpPr>
          <p:cNvPr id="14" name="Rectangle 13">
            <a:extLst>
              <a:ext uri="{FF2B5EF4-FFF2-40B4-BE49-F238E27FC236}">
                <a16:creationId xmlns:a16="http://schemas.microsoft.com/office/drawing/2014/main" id="{AD6F31CB-2B40-E24F-F2A2-D25AE8BAC03B}"/>
              </a:ext>
            </a:extLst>
          </p:cNvPr>
          <p:cNvSpPr/>
          <p:nvPr/>
        </p:nvSpPr>
        <p:spPr>
          <a:xfrm>
            <a:off x="4128902" y="5148757"/>
            <a:ext cx="1682548"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Supporting Data</a:t>
            </a:r>
            <a:endParaRPr lang="en-AU" sz="1400" dirty="0">
              <a:solidFill>
                <a:schemeClr val="tx1"/>
              </a:solidFill>
              <a:latin typeface="Comic Sans MS" panose="030F0702030302020204" pitchFamily="66" charset="0"/>
            </a:endParaRPr>
          </a:p>
        </p:txBody>
      </p:sp>
      <p:cxnSp>
        <p:nvCxnSpPr>
          <p:cNvPr id="16" name="Straight Connector 15">
            <a:extLst>
              <a:ext uri="{FF2B5EF4-FFF2-40B4-BE49-F238E27FC236}">
                <a16:creationId xmlns:a16="http://schemas.microsoft.com/office/drawing/2014/main" id="{8CFE415C-5D77-F7D7-5F09-5D05E79A1F48}"/>
              </a:ext>
            </a:extLst>
          </p:cNvPr>
          <p:cNvCxnSpPr/>
          <p:nvPr/>
        </p:nvCxnSpPr>
        <p:spPr>
          <a:xfrm>
            <a:off x="5811450" y="4503496"/>
            <a:ext cx="50705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60CC348-10BB-9CCF-AE54-9E5494FD429F}"/>
              </a:ext>
            </a:extLst>
          </p:cNvPr>
          <p:cNvCxnSpPr/>
          <p:nvPr/>
        </p:nvCxnSpPr>
        <p:spPr>
          <a:xfrm>
            <a:off x="5893746" y="5418200"/>
            <a:ext cx="507054"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3F90B3BF-5A1F-6A93-6B26-3505FC8C9F61}"/>
              </a:ext>
            </a:extLst>
          </p:cNvPr>
          <p:cNvSpPr/>
          <p:nvPr/>
        </p:nvSpPr>
        <p:spPr>
          <a:xfrm>
            <a:off x="1591054" y="2079117"/>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Comic Sans MS" panose="030F0702030302020204" pitchFamily="66" charset="0"/>
              </a:rPr>
              <a:t>User Prompt</a:t>
            </a:r>
            <a:endParaRPr lang="en-AU" sz="1600" dirty="0">
              <a:solidFill>
                <a:schemeClr val="tx1"/>
              </a:solidFill>
              <a:latin typeface="Comic Sans MS" panose="030F0702030302020204" pitchFamily="66" charset="0"/>
            </a:endParaRPr>
          </a:p>
        </p:txBody>
      </p:sp>
      <p:sp>
        <p:nvSpPr>
          <p:cNvPr id="19" name="Arrow: Right 18">
            <a:extLst>
              <a:ext uri="{FF2B5EF4-FFF2-40B4-BE49-F238E27FC236}">
                <a16:creationId xmlns:a16="http://schemas.microsoft.com/office/drawing/2014/main" id="{B32DF272-5741-AEAA-6C68-762C245E0CAF}"/>
              </a:ext>
            </a:extLst>
          </p:cNvPr>
          <p:cNvSpPr/>
          <p:nvPr/>
        </p:nvSpPr>
        <p:spPr>
          <a:xfrm>
            <a:off x="3035808" y="2230450"/>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99B68F22-0EE6-ACED-62BD-763F1B60275A}"/>
              </a:ext>
            </a:extLst>
          </p:cNvPr>
          <p:cNvSpPr/>
          <p:nvPr/>
        </p:nvSpPr>
        <p:spPr>
          <a:xfrm>
            <a:off x="6693791" y="2897201"/>
            <a:ext cx="667512" cy="320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CAA61BDC-1C65-9F6E-E22B-F1B8E9519781}"/>
              </a:ext>
            </a:extLst>
          </p:cNvPr>
          <p:cNvSpPr/>
          <p:nvPr/>
        </p:nvSpPr>
        <p:spPr>
          <a:xfrm>
            <a:off x="9596246" y="2762289"/>
            <a:ext cx="1249680" cy="590550"/>
          </a:xfrm>
          <a:prstGeom prst="rect">
            <a:avLst/>
          </a:prstGeom>
          <a:solidFill>
            <a:schemeClr val="bg1"/>
          </a:solid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mic Sans MS" panose="030F0702030302020204" pitchFamily="66" charset="0"/>
              </a:rPr>
              <a:t>LLM Response</a:t>
            </a:r>
            <a:endParaRPr lang="en-AU" sz="1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18017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D602-3BB0-5748-6DEB-23DD9737B9E7}"/>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15CF1BC4-3487-446A-CFB1-C6E42567F1C2}"/>
              </a:ext>
            </a:extLst>
          </p:cNvPr>
          <p:cNvSpPr/>
          <p:nvPr/>
        </p:nvSpPr>
        <p:spPr>
          <a:xfrm>
            <a:off x="3861787" y="2992626"/>
            <a:ext cx="2441359" cy="909116"/>
          </a:xfrm>
          <a:prstGeom prst="rect">
            <a:avLst/>
          </a:prstGeom>
          <a:solidFill>
            <a:schemeClr val="bg1"/>
          </a:solidFill>
          <a:ln w="285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2" name="Rectangle 1">
            <a:extLst>
              <a:ext uri="{FF2B5EF4-FFF2-40B4-BE49-F238E27FC236}">
                <a16:creationId xmlns:a16="http://schemas.microsoft.com/office/drawing/2014/main" id="{B0C00346-83A2-E421-49F6-E7B0640E5592}"/>
              </a:ext>
            </a:extLst>
          </p:cNvPr>
          <p:cNvSpPr/>
          <p:nvPr/>
        </p:nvSpPr>
        <p:spPr>
          <a:xfrm>
            <a:off x="1153764" y="2586001"/>
            <a:ext cx="2210539" cy="1552678"/>
          </a:xfrm>
          <a:prstGeom prst="rect">
            <a:avLst/>
          </a:prstGeom>
          <a:solidFill>
            <a:schemeClr val="bg1"/>
          </a:solidFill>
          <a:ln w="285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18" name="Rectangle 17">
            <a:extLst>
              <a:ext uri="{FF2B5EF4-FFF2-40B4-BE49-F238E27FC236}">
                <a16:creationId xmlns:a16="http://schemas.microsoft.com/office/drawing/2014/main" id="{025303CB-0ED1-6B01-8655-EA86BD214B70}"/>
              </a:ext>
            </a:extLst>
          </p:cNvPr>
          <p:cNvSpPr/>
          <p:nvPr/>
        </p:nvSpPr>
        <p:spPr>
          <a:xfrm>
            <a:off x="1342995" y="3006463"/>
            <a:ext cx="1784447" cy="355114"/>
          </a:xfrm>
          <a:prstGeom prst="rect">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submit_order</a:t>
            </a:r>
            <a:endParaRPr lang="en-AU" sz="1200" dirty="0">
              <a:solidFill>
                <a:schemeClr val="tx1"/>
              </a:solidFill>
              <a:latin typeface="Comic Sans MS" panose="030F0702030302020204" pitchFamily="66" charset="0"/>
            </a:endParaRPr>
          </a:p>
        </p:txBody>
      </p:sp>
      <p:sp>
        <p:nvSpPr>
          <p:cNvPr id="15" name="Title 5">
            <a:extLst>
              <a:ext uri="{FF2B5EF4-FFF2-40B4-BE49-F238E27FC236}">
                <a16:creationId xmlns:a16="http://schemas.microsoft.com/office/drawing/2014/main" id="{9FA342B7-8398-FCE9-B462-148D649D17EE}"/>
              </a:ext>
            </a:extLst>
          </p:cNvPr>
          <p:cNvSpPr txBox="1">
            <a:spLocks/>
          </p:cNvSpPr>
          <p:nvPr/>
        </p:nvSpPr>
        <p:spPr>
          <a:xfrm>
            <a:off x="437177" y="180142"/>
            <a:ext cx="9518986"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R="0" lvl="0" indent="0" algn="l" defTabSz="1371600" rtl="0" eaLnBrk="1" fontAlgn="auto" latinLnBrk="0" hangingPunct="1">
              <a:lnSpc>
                <a:spcPct val="100000"/>
              </a:lnSpc>
              <a:spcBef>
                <a:spcPts val="0"/>
              </a:spcBef>
              <a:spcAft>
                <a:spcPts val="0"/>
              </a:spcAft>
              <a:buClrTx/>
              <a:buSzTx/>
              <a:buFontTx/>
              <a:buNone/>
              <a:tabLst>
                <a:tab pos="1371600" algn="l"/>
              </a:tabLst>
              <a:defRPr kumimoji="0" lang="en-US" sz="2400" b="0" i="0" u="none" strike="noStrike" kern="1200" cap="none" spc="0" normalizeH="0" baseline="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mj-lt"/>
                <a:ea typeface="+mn-ea"/>
                <a:cs typeface="Segoe UI" panose="020B0502040204020203"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a:defRPr/>
            </a:pPr>
            <a:r>
              <a:rPr lang="en-US" sz="3600" dirty="0">
                <a:solidFill>
                  <a:schemeClr val="tx1"/>
                </a:solidFill>
                <a:latin typeface="Comic Sans MS" panose="030F0702030302020204" pitchFamily="66" charset="0"/>
              </a:rPr>
              <a:t>How does Function Calling work ?</a:t>
            </a:r>
            <a:endParaRPr lang="en-US" sz="3600" b="1" spc="-50" dirty="0">
              <a:solidFill>
                <a:srgbClr val="8CADC6"/>
              </a:solidFill>
              <a:latin typeface="Comic Sans MS" panose="030F0702030302020204" pitchFamily="66" charset="0"/>
              <a:cs typeface="Segoe UI Semibold"/>
            </a:endParaRPr>
          </a:p>
        </p:txBody>
      </p:sp>
      <p:cxnSp>
        <p:nvCxnSpPr>
          <p:cNvPr id="8" name="Straight Connector 7">
            <a:extLst>
              <a:ext uri="{FF2B5EF4-FFF2-40B4-BE49-F238E27FC236}">
                <a16:creationId xmlns:a16="http://schemas.microsoft.com/office/drawing/2014/main" id="{11795CAB-5868-0938-5BCB-01681D651E3E}"/>
              </a:ext>
            </a:extLst>
          </p:cNvPr>
          <p:cNvCxnSpPr>
            <a:cxnSpLocks/>
          </p:cNvCxnSpPr>
          <p:nvPr/>
        </p:nvCxnSpPr>
        <p:spPr>
          <a:xfrm>
            <a:off x="1153764" y="2110023"/>
            <a:ext cx="10184796"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F0C018E5-031E-988F-9399-3B987607B0DE}"/>
              </a:ext>
            </a:extLst>
          </p:cNvPr>
          <p:cNvSpPr/>
          <p:nvPr/>
        </p:nvSpPr>
        <p:spPr>
          <a:xfrm>
            <a:off x="1281084" y="3515293"/>
            <a:ext cx="1955898" cy="430187"/>
          </a:xfrm>
          <a:prstGeom prst="rect">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I want to buy Constoso Roadster bike . . .</a:t>
            </a:r>
            <a:endParaRPr lang="en-AU" sz="1200" dirty="0">
              <a:solidFill>
                <a:schemeClr val="tx1"/>
              </a:solidFill>
              <a:latin typeface="Comic Sans MS" panose="030F0702030302020204" pitchFamily="66" charset="0"/>
            </a:endParaRPr>
          </a:p>
        </p:txBody>
      </p:sp>
      <p:sp>
        <p:nvSpPr>
          <p:cNvPr id="27" name="Rectangle 26">
            <a:extLst>
              <a:ext uri="{FF2B5EF4-FFF2-40B4-BE49-F238E27FC236}">
                <a16:creationId xmlns:a16="http://schemas.microsoft.com/office/drawing/2014/main" id="{76780CDD-2C44-F826-FCC3-26FC9FEECBDE}"/>
              </a:ext>
            </a:extLst>
          </p:cNvPr>
          <p:cNvSpPr/>
          <p:nvPr/>
        </p:nvSpPr>
        <p:spPr>
          <a:xfrm>
            <a:off x="3985150" y="3328490"/>
            <a:ext cx="2185901" cy="430187"/>
          </a:xfrm>
          <a:prstGeom prst="rect">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submit_order(orderInfo)</a:t>
            </a:r>
            <a:endParaRPr lang="en-AU" sz="1200" dirty="0">
              <a:solidFill>
                <a:schemeClr val="tx1"/>
              </a:solidFill>
              <a:latin typeface="Comic Sans MS" panose="030F0702030302020204" pitchFamily="66" charset="0"/>
            </a:endParaRPr>
          </a:p>
        </p:txBody>
      </p:sp>
      <p:sp>
        <p:nvSpPr>
          <p:cNvPr id="28" name="TextBox 27">
            <a:extLst>
              <a:ext uri="{FF2B5EF4-FFF2-40B4-BE49-F238E27FC236}">
                <a16:creationId xmlns:a16="http://schemas.microsoft.com/office/drawing/2014/main" id="{C2DDFF7A-9E30-E91D-5338-180C608AD0C9}"/>
              </a:ext>
            </a:extLst>
          </p:cNvPr>
          <p:cNvSpPr txBox="1"/>
          <p:nvPr/>
        </p:nvSpPr>
        <p:spPr>
          <a:xfrm>
            <a:off x="4766263" y="3086582"/>
            <a:ext cx="586699" cy="169277"/>
          </a:xfrm>
          <a:prstGeom prst="rect">
            <a:avLst/>
          </a:prstGeom>
          <a:noFill/>
        </p:spPr>
        <p:txBody>
          <a:bodyPr wrap="none" lIns="0" tIns="0" rIns="0" bIns="0" rtlCol="0">
            <a:spAutoFit/>
          </a:bodyPr>
          <a:lstStyle/>
          <a:p>
            <a:pPr algn="l"/>
            <a:r>
              <a:rPr lang="en-US" sz="1100" b="1" dirty="0">
                <a:latin typeface="Comic Sans MS" panose="030F0702030302020204" pitchFamily="66" charset="0"/>
              </a:rPr>
              <a:t>Tool Call</a:t>
            </a:r>
            <a:endParaRPr lang="en-AU" sz="1100" b="1" dirty="0" err="1">
              <a:latin typeface="Comic Sans MS" panose="030F0702030302020204" pitchFamily="66" charset="0"/>
            </a:endParaRPr>
          </a:p>
        </p:txBody>
      </p:sp>
      <p:sp>
        <p:nvSpPr>
          <p:cNvPr id="29" name="TextBox 28">
            <a:extLst>
              <a:ext uri="{FF2B5EF4-FFF2-40B4-BE49-F238E27FC236}">
                <a16:creationId xmlns:a16="http://schemas.microsoft.com/office/drawing/2014/main" id="{EADDCC04-7329-F56E-CF6A-F03A61BEE3D5}"/>
              </a:ext>
            </a:extLst>
          </p:cNvPr>
          <p:cNvSpPr txBox="1"/>
          <p:nvPr/>
        </p:nvSpPr>
        <p:spPr>
          <a:xfrm>
            <a:off x="1381584" y="2714647"/>
            <a:ext cx="1925207" cy="169277"/>
          </a:xfrm>
          <a:prstGeom prst="rect">
            <a:avLst/>
          </a:prstGeom>
          <a:noFill/>
        </p:spPr>
        <p:txBody>
          <a:bodyPr wrap="none" lIns="0" tIns="0" rIns="0" bIns="0" rtlCol="0">
            <a:spAutoFit/>
          </a:bodyPr>
          <a:lstStyle/>
          <a:p>
            <a:pPr algn="l"/>
            <a:r>
              <a:rPr lang="en-US" sz="1100" b="1" dirty="0">
                <a:latin typeface="Comic Sans MS" panose="030F0702030302020204" pitchFamily="66" charset="0"/>
              </a:rPr>
              <a:t>Messages + Tool Definitions</a:t>
            </a:r>
            <a:endParaRPr lang="en-AU" sz="1100" b="1" dirty="0" err="1">
              <a:latin typeface="Comic Sans MS" panose="030F0702030302020204" pitchFamily="66" charset="0"/>
            </a:endParaRPr>
          </a:p>
        </p:txBody>
      </p:sp>
      <p:sp>
        <p:nvSpPr>
          <p:cNvPr id="33" name="Rectangle 32">
            <a:extLst>
              <a:ext uri="{FF2B5EF4-FFF2-40B4-BE49-F238E27FC236}">
                <a16:creationId xmlns:a16="http://schemas.microsoft.com/office/drawing/2014/main" id="{313CD7FF-AAFC-1C05-059F-177D35425741}"/>
              </a:ext>
            </a:extLst>
          </p:cNvPr>
          <p:cNvSpPr/>
          <p:nvPr/>
        </p:nvSpPr>
        <p:spPr>
          <a:xfrm>
            <a:off x="4901544" y="4913081"/>
            <a:ext cx="2539013" cy="1577795"/>
          </a:xfrm>
          <a:prstGeom prst="rect">
            <a:avLst/>
          </a:prstGeom>
          <a:solidFill>
            <a:schemeClr val="bg1"/>
          </a:solidFill>
          <a:ln w="285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35" name="Rectangle 34">
            <a:extLst>
              <a:ext uri="{FF2B5EF4-FFF2-40B4-BE49-F238E27FC236}">
                <a16:creationId xmlns:a16="http://schemas.microsoft.com/office/drawing/2014/main" id="{FC8938EF-E4E5-196C-C785-4E2F56EAD84A}"/>
              </a:ext>
            </a:extLst>
          </p:cNvPr>
          <p:cNvSpPr/>
          <p:nvPr/>
        </p:nvSpPr>
        <p:spPr>
          <a:xfrm>
            <a:off x="5060933" y="5300701"/>
            <a:ext cx="2185901" cy="430187"/>
          </a:xfrm>
          <a:prstGeom prst="rect">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submit_order(orderInfo)</a:t>
            </a:r>
            <a:endParaRPr lang="en-AU" sz="1200" dirty="0">
              <a:solidFill>
                <a:schemeClr val="tx1"/>
              </a:solidFill>
              <a:latin typeface="Comic Sans MS" panose="030F0702030302020204" pitchFamily="66" charset="0"/>
            </a:endParaRPr>
          </a:p>
        </p:txBody>
      </p:sp>
      <p:sp>
        <p:nvSpPr>
          <p:cNvPr id="36" name="TextBox 35">
            <a:extLst>
              <a:ext uri="{FF2B5EF4-FFF2-40B4-BE49-F238E27FC236}">
                <a16:creationId xmlns:a16="http://schemas.microsoft.com/office/drawing/2014/main" id="{25B42C5E-94A2-B55B-F3D6-611BFCBDFCBA}"/>
              </a:ext>
            </a:extLst>
          </p:cNvPr>
          <p:cNvSpPr txBox="1"/>
          <p:nvPr/>
        </p:nvSpPr>
        <p:spPr>
          <a:xfrm>
            <a:off x="5400471" y="4996375"/>
            <a:ext cx="1542089" cy="169277"/>
          </a:xfrm>
          <a:prstGeom prst="rect">
            <a:avLst/>
          </a:prstGeom>
          <a:noFill/>
        </p:spPr>
        <p:txBody>
          <a:bodyPr wrap="none" lIns="0" tIns="0" rIns="0" bIns="0" rtlCol="0">
            <a:spAutoFit/>
          </a:bodyPr>
          <a:lstStyle/>
          <a:p>
            <a:pPr algn="l"/>
            <a:r>
              <a:rPr lang="en-US" sz="1100" b="1" dirty="0">
                <a:latin typeface="Comic Sans MS" panose="030F0702030302020204" pitchFamily="66" charset="0"/>
              </a:rPr>
              <a:t>Execute Function Code</a:t>
            </a:r>
            <a:endParaRPr lang="en-AU" sz="1100" b="1" dirty="0" err="1">
              <a:latin typeface="Comic Sans MS" panose="030F0702030302020204" pitchFamily="66" charset="0"/>
            </a:endParaRPr>
          </a:p>
        </p:txBody>
      </p:sp>
      <p:sp>
        <p:nvSpPr>
          <p:cNvPr id="37" name="Rectangle 36">
            <a:extLst>
              <a:ext uri="{FF2B5EF4-FFF2-40B4-BE49-F238E27FC236}">
                <a16:creationId xmlns:a16="http://schemas.microsoft.com/office/drawing/2014/main" id="{439017DC-2045-C0B3-9A18-8A0FA38E436A}"/>
              </a:ext>
            </a:extLst>
          </p:cNvPr>
          <p:cNvSpPr/>
          <p:nvPr/>
        </p:nvSpPr>
        <p:spPr>
          <a:xfrm>
            <a:off x="5060931" y="5913326"/>
            <a:ext cx="2185901" cy="430187"/>
          </a:xfrm>
          <a:prstGeom prst="rect">
            <a:avLst/>
          </a:prstGeom>
          <a:solidFill>
            <a:schemeClr val="tx1">
              <a:lumMod val="25000"/>
              <a:lumOff val="7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{“orderId”: 24}</a:t>
            </a:r>
            <a:endParaRPr lang="en-AU" sz="1200" dirty="0">
              <a:solidFill>
                <a:schemeClr val="tx1"/>
              </a:solidFill>
              <a:latin typeface="Comic Sans MS" panose="030F0702030302020204" pitchFamily="66" charset="0"/>
            </a:endParaRPr>
          </a:p>
        </p:txBody>
      </p:sp>
      <p:sp>
        <p:nvSpPr>
          <p:cNvPr id="38" name="Rectangle 37">
            <a:extLst>
              <a:ext uri="{FF2B5EF4-FFF2-40B4-BE49-F238E27FC236}">
                <a16:creationId xmlns:a16="http://schemas.microsoft.com/office/drawing/2014/main" id="{F5C5EC36-9C05-7522-3936-176D0FACBE7A}"/>
              </a:ext>
            </a:extLst>
          </p:cNvPr>
          <p:cNvSpPr/>
          <p:nvPr/>
        </p:nvSpPr>
        <p:spPr>
          <a:xfrm>
            <a:off x="6702641" y="2676340"/>
            <a:ext cx="2441359" cy="1370473"/>
          </a:xfrm>
          <a:prstGeom prst="rect">
            <a:avLst/>
          </a:prstGeom>
          <a:solidFill>
            <a:schemeClr val="bg1"/>
          </a:solidFill>
          <a:ln w="285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39" name="Rectangle 38">
            <a:extLst>
              <a:ext uri="{FF2B5EF4-FFF2-40B4-BE49-F238E27FC236}">
                <a16:creationId xmlns:a16="http://schemas.microsoft.com/office/drawing/2014/main" id="{4BC6441E-B4A8-8CEF-C065-7F0B8C0274A9}"/>
              </a:ext>
            </a:extLst>
          </p:cNvPr>
          <p:cNvSpPr/>
          <p:nvPr/>
        </p:nvSpPr>
        <p:spPr>
          <a:xfrm>
            <a:off x="7165957" y="2985573"/>
            <a:ext cx="1480956" cy="355114"/>
          </a:xfrm>
          <a:prstGeom prst="rect">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all prior messages</a:t>
            </a:r>
            <a:endParaRPr lang="en-AU" sz="1200" dirty="0">
              <a:solidFill>
                <a:schemeClr val="tx1"/>
              </a:solidFill>
              <a:latin typeface="Comic Sans MS" panose="030F0702030302020204" pitchFamily="66" charset="0"/>
            </a:endParaRPr>
          </a:p>
        </p:txBody>
      </p:sp>
      <p:sp>
        <p:nvSpPr>
          <p:cNvPr id="40" name="Rectangle 39">
            <a:extLst>
              <a:ext uri="{FF2B5EF4-FFF2-40B4-BE49-F238E27FC236}">
                <a16:creationId xmlns:a16="http://schemas.microsoft.com/office/drawing/2014/main" id="{848555BD-AE93-A347-F038-0B139344E46E}"/>
              </a:ext>
            </a:extLst>
          </p:cNvPr>
          <p:cNvSpPr/>
          <p:nvPr/>
        </p:nvSpPr>
        <p:spPr>
          <a:xfrm>
            <a:off x="6832032" y="3445903"/>
            <a:ext cx="2185901" cy="430187"/>
          </a:xfrm>
          <a:prstGeom prst="rect">
            <a:avLst/>
          </a:prstGeom>
          <a:solidFill>
            <a:schemeClr val="tx1">
              <a:lumMod val="25000"/>
              <a:lumOff val="7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{“orderId”: 24}</a:t>
            </a:r>
            <a:endParaRPr lang="en-AU" sz="1200" dirty="0">
              <a:solidFill>
                <a:schemeClr val="tx1"/>
              </a:solidFill>
              <a:latin typeface="Comic Sans MS" panose="030F0702030302020204" pitchFamily="66" charset="0"/>
            </a:endParaRPr>
          </a:p>
        </p:txBody>
      </p:sp>
      <p:sp>
        <p:nvSpPr>
          <p:cNvPr id="42" name="TextBox 41">
            <a:extLst>
              <a:ext uri="{FF2B5EF4-FFF2-40B4-BE49-F238E27FC236}">
                <a16:creationId xmlns:a16="http://schemas.microsoft.com/office/drawing/2014/main" id="{01C2585C-3CF1-7405-CD16-243B396DBBC8}"/>
              </a:ext>
            </a:extLst>
          </p:cNvPr>
          <p:cNvSpPr txBox="1"/>
          <p:nvPr/>
        </p:nvSpPr>
        <p:spPr>
          <a:xfrm>
            <a:off x="7635640" y="2746318"/>
            <a:ext cx="484107" cy="169277"/>
          </a:xfrm>
          <a:prstGeom prst="rect">
            <a:avLst/>
          </a:prstGeom>
          <a:noFill/>
        </p:spPr>
        <p:txBody>
          <a:bodyPr wrap="none" lIns="0" tIns="0" rIns="0" bIns="0" rtlCol="0">
            <a:spAutoFit/>
          </a:bodyPr>
          <a:lstStyle/>
          <a:p>
            <a:pPr algn="l"/>
            <a:r>
              <a:rPr lang="en-US" sz="1100" b="1" dirty="0">
                <a:latin typeface="Comic Sans MS" panose="030F0702030302020204" pitchFamily="66" charset="0"/>
              </a:rPr>
              <a:t>Results</a:t>
            </a:r>
            <a:endParaRPr lang="en-AU" sz="1100" b="1" dirty="0" err="1">
              <a:latin typeface="Comic Sans MS" panose="030F0702030302020204" pitchFamily="66" charset="0"/>
            </a:endParaRPr>
          </a:p>
        </p:txBody>
      </p:sp>
      <p:sp>
        <p:nvSpPr>
          <p:cNvPr id="46" name="Rectangle 45">
            <a:extLst>
              <a:ext uri="{FF2B5EF4-FFF2-40B4-BE49-F238E27FC236}">
                <a16:creationId xmlns:a16="http://schemas.microsoft.com/office/drawing/2014/main" id="{A7B0D721-C036-68E6-71AD-C4407C49DBA0}"/>
              </a:ext>
            </a:extLst>
          </p:cNvPr>
          <p:cNvSpPr/>
          <p:nvPr/>
        </p:nvSpPr>
        <p:spPr>
          <a:xfrm>
            <a:off x="9607316" y="2923807"/>
            <a:ext cx="1893136" cy="875537"/>
          </a:xfrm>
          <a:prstGeom prst="rect">
            <a:avLst/>
          </a:prstGeom>
          <a:solidFill>
            <a:schemeClr val="tx2">
              <a:lumMod val="90000"/>
              <a:lumOff val="10000"/>
            </a:schemeClr>
          </a:solidFill>
          <a:ln w="285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2"/>
                </a:solidFill>
                <a:latin typeface="Comic Sans MS" panose="030F0702030302020204" pitchFamily="66" charset="0"/>
              </a:rPr>
              <a:t>Your order has been placed successfully.</a:t>
            </a:r>
          </a:p>
        </p:txBody>
      </p:sp>
      <p:cxnSp>
        <p:nvCxnSpPr>
          <p:cNvPr id="51" name="Straight Connector 50">
            <a:extLst>
              <a:ext uri="{FF2B5EF4-FFF2-40B4-BE49-F238E27FC236}">
                <a16:creationId xmlns:a16="http://schemas.microsoft.com/office/drawing/2014/main" id="{371C2448-302E-A53F-B832-E9436952A5E8}"/>
              </a:ext>
            </a:extLst>
          </p:cNvPr>
          <p:cNvCxnSpPr>
            <a:cxnSpLocks/>
          </p:cNvCxnSpPr>
          <p:nvPr/>
        </p:nvCxnSpPr>
        <p:spPr>
          <a:xfrm flipV="1">
            <a:off x="1153764" y="4643524"/>
            <a:ext cx="10346688" cy="2110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56" name="Arrow: Right 55">
            <a:extLst>
              <a:ext uri="{FF2B5EF4-FFF2-40B4-BE49-F238E27FC236}">
                <a16:creationId xmlns:a16="http://schemas.microsoft.com/office/drawing/2014/main" id="{B27D4B64-FA43-6899-2FA9-140A50D18BBE}"/>
              </a:ext>
            </a:extLst>
          </p:cNvPr>
          <p:cNvSpPr/>
          <p:nvPr/>
        </p:nvSpPr>
        <p:spPr>
          <a:xfrm rot="5400000" flipH="1">
            <a:off x="1883575" y="4250358"/>
            <a:ext cx="430189" cy="32072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Comic Sans MS" panose="030F0702030302020204" pitchFamily="66" charset="0"/>
            </a:endParaRPr>
          </a:p>
        </p:txBody>
      </p:sp>
      <p:sp>
        <p:nvSpPr>
          <p:cNvPr id="57" name="Arrow: Right 56">
            <a:extLst>
              <a:ext uri="{FF2B5EF4-FFF2-40B4-BE49-F238E27FC236}">
                <a16:creationId xmlns:a16="http://schemas.microsoft.com/office/drawing/2014/main" id="{A3852C6E-D43A-C97F-7C25-8CE924C3B31D}"/>
              </a:ext>
            </a:extLst>
          </p:cNvPr>
          <p:cNvSpPr/>
          <p:nvPr/>
        </p:nvSpPr>
        <p:spPr>
          <a:xfrm rot="5400000">
            <a:off x="4744344" y="2390962"/>
            <a:ext cx="667512" cy="32072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Comic Sans MS" panose="030F0702030302020204" pitchFamily="66" charset="0"/>
            </a:endParaRPr>
          </a:p>
        </p:txBody>
      </p:sp>
      <p:sp>
        <p:nvSpPr>
          <p:cNvPr id="58" name="Arrow: Right 57">
            <a:extLst>
              <a:ext uri="{FF2B5EF4-FFF2-40B4-BE49-F238E27FC236}">
                <a16:creationId xmlns:a16="http://schemas.microsoft.com/office/drawing/2014/main" id="{C40C3C1D-C704-AF7B-B1FB-9CB923EA73D7}"/>
              </a:ext>
            </a:extLst>
          </p:cNvPr>
          <p:cNvSpPr/>
          <p:nvPr/>
        </p:nvSpPr>
        <p:spPr>
          <a:xfrm rot="5400000">
            <a:off x="10220128" y="2371751"/>
            <a:ext cx="667512" cy="32072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Comic Sans MS" panose="030F0702030302020204" pitchFamily="66" charset="0"/>
            </a:endParaRPr>
          </a:p>
        </p:txBody>
      </p:sp>
      <p:cxnSp>
        <p:nvCxnSpPr>
          <p:cNvPr id="59" name="Connector: Curved 58">
            <a:extLst>
              <a:ext uri="{FF2B5EF4-FFF2-40B4-BE49-F238E27FC236}">
                <a16:creationId xmlns:a16="http://schemas.microsoft.com/office/drawing/2014/main" id="{59A46B54-11C0-B47E-2C8A-3787C87E4EC6}"/>
              </a:ext>
            </a:extLst>
          </p:cNvPr>
          <p:cNvCxnSpPr>
            <a:cxnSpLocks/>
            <a:endCxn id="35" idx="1"/>
          </p:cNvCxnSpPr>
          <p:nvPr/>
        </p:nvCxnSpPr>
        <p:spPr>
          <a:xfrm rot="16200000" flipH="1">
            <a:off x="3794235" y="4249097"/>
            <a:ext cx="1574680" cy="958716"/>
          </a:xfrm>
          <a:prstGeom prst="curvedConnector2">
            <a:avLst/>
          </a:prstGeom>
          <a:ln w="38100">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0B6E5F39-C0B8-A98A-428F-1058DEB578E4}"/>
              </a:ext>
            </a:extLst>
          </p:cNvPr>
          <p:cNvCxnSpPr>
            <a:cxnSpLocks/>
            <a:stCxn id="37" idx="3"/>
          </p:cNvCxnSpPr>
          <p:nvPr/>
        </p:nvCxnSpPr>
        <p:spPr>
          <a:xfrm flipV="1">
            <a:off x="7246832" y="3901742"/>
            <a:ext cx="1641708" cy="2226678"/>
          </a:xfrm>
          <a:prstGeom prst="curvedConnector2">
            <a:avLst/>
          </a:prstGeom>
          <a:ln w="38100">
            <a:solidFill>
              <a:schemeClr val="tx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2" name="Arrow: Right 71">
            <a:extLst>
              <a:ext uri="{FF2B5EF4-FFF2-40B4-BE49-F238E27FC236}">
                <a16:creationId xmlns:a16="http://schemas.microsoft.com/office/drawing/2014/main" id="{31932CAA-90D6-53FA-C9DB-E43E646D279D}"/>
              </a:ext>
            </a:extLst>
          </p:cNvPr>
          <p:cNvSpPr/>
          <p:nvPr/>
        </p:nvSpPr>
        <p:spPr>
          <a:xfrm rot="5400000" flipH="1">
            <a:off x="1889943" y="2202083"/>
            <a:ext cx="430189" cy="32072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Comic Sans MS" panose="030F0702030302020204" pitchFamily="66" charset="0"/>
            </a:endParaRPr>
          </a:p>
        </p:txBody>
      </p:sp>
      <p:sp>
        <p:nvSpPr>
          <p:cNvPr id="73" name="Arrow: Right 72">
            <a:extLst>
              <a:ext uri="{FF2B5EF4-FFF2-40B4-BE49-F238E27FC236}">
                <a16:creationId xmlns:a16="http://schemas.microsoft.com/office/drawing/2014/main" id="{C9DC706A-3103-7190-EAC7-0EB90858D7BD}"/>
              </a:ext>
            </a:extLst>
          </p:cNvPr>
          <p:cNvSpPr/>
          <p:nvPr/>
        </p:nvSpPr>
        <p:spPr>
          <a:xfrm rot="5400000" flipH="1">
            <a:off x="7708226" y="2239412"/>
            <a:ext cx="430189" cy="32072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Comic Sans MS" panose="030F0702030302020204" pitchFamily="66" charset="0"/>
            </a:endParaRPr>
          </a:p>
        </p:txBody>
      </p:sp>
      <p:sp>
        <p:nvSpPr>
          <p:cNvPr id="75" name="Rectangle 74">
            <a:extLst>
              <a:ext uri="{FF2B5EF4-FFF2-40B4-BE49-F238E27FC236}">
                <a16:creationId xmlns:a16="http://schemas.microsoft.com/office/drawing/2014/main" id="{A22FFF63-1C75-5800-A393-828EF127FB31}"/>
              </a:ext>
            </a:extLst>
          </p:cNvPr>
          <p:cNvSpPr/>
          <p:nvPr/>
        </p:nvSpPr>
        <p:spPr>
          <a:xfrm>
            <a:off x="1257778" y="1267051"/>
            <a:ext cx="1694517" cy="590550"/>
          </a:xfrm>
          <a:prstGeom prst="rect">
            <a:avLst/>
          </a:prstGeom>
          <a:solidFill>
            <a:schemeClr val="tx2">
              <a:lumMod val="90000"/>
              <a:lumOff val="10000"/>
            </a:schemeClr>
          </a:solidFill>
          <a:ln w="285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latin typeface="Comic Sans MS" panose="030F0702030302020204" pitchFamily="66" charset="0"/>
              </a:rPr>
              <a:t>Language Model</a:t>
            </a:r>
            <a:endParaRPr lang="en-AU" sz="1400" b="1" dirty="0">
              <a:solidFill>
                <a:schemeClr val="bg1"/>
              </a:solidFill>
              <a:latin typeface="Comic Sans MS" panose="030F0702030302020204" pitchFamily="66" charset="0"/>
            </a:endParaRPr>
          </a:p>
        </p:txBody>
      </p:sp>
      <p:sp>
        <p:nvSpPr>
          <p:cNvPr id="76" name="Rectangle 75">
            <a:extLst>
              <a:ext uri="{FF2B5EF4-FFF2-40B4-BE49-F238E27FC236}">
                <a16:creationId xmlns:a16="http://schemas.microsoft.com/office/drawing/2014/main" id="{9FEB8F4F-9081-55B5-BE1C-BE04B7D1B5CF}"/>
              </a:ext>
            </a:extLst>
          </p:cNvPr>
          <p:cNvSpPr/>
          <p:nvPr/>
        </p:nvSpPr>
        <p:spPr>
          <a:xfrm>
            <a:off x="1156259" y="4966068"/>
            <a:ext cx="2157917" cy="590550"/>
          </a:xfrm>
          <a:prstGeom prst="rect">
            <a:avLst/>
          </a:prstGeom>
          <a:solidFill>
            <a:schemeClr val="tx2">
              <a:lumMod val="90000"/>
              <a:lumOff val="10000"/>
            </a:schemeClr>
          </a:solidFill>
          <a:ln w="285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Comic Sans MS" panose="030F0702030302020204" pitchFamily="66" charset="0"/>
              </a:rPr>
              <a:t>AI Application</a:t>
            </a:r>
          </a:p>
        </p:txBody>
      </p:sp>
    </p:spTree>
    <p:extLst>
      <p:ext uri="{BB962C8B-B14F-4D97-AF65-F5344CB8AC3E}">
        <p14:creationId xmlns:p14="http://schemas.microsoft.com/office/powerpoint/2010/main" val="397555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decel="100000" fill="hold" grpId="1" nodeType="withEffect">
                                  <p:stCondLst>
                                    <p:cond delay="50"/>
                                  </p:stCondLst>
                                  <p:childTnLst>
                                    <p:animMotion origin="layout" path="M 4.16667E-6 2.22222E-6 L 4.16667E-6 0.03541 " pathEditMode="relative" rAng="0" ptsTypes="AA">
                                      <p:cBhvr>
                                        <p:cTn id="9" dur="700" spd="-100000" fill="hold"/>
                                        <p:tgtEl>
                                          <p:spTgt spid="1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F2B5E-EDB1-AB28-5471-FB3F1329C7F1}"/>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A6265B4B-E9A5-17CA-A523-24CAFCC4E028}"/>
              </a:ext>
            </a:extLst>
          </p:cNvPr>
          <p:cNvSpPr/>
          <p:nvPr/>
        </p:nvSpPr>
        <p:spPr>
          <a:xfrm>
            <a:off x="1088985" y="3122881"/>
            <a:ext cx="1411710" cy="35060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7" name="Rectangle 6">
            <a:extLst>
              <a:ext uri="{FF2B5EF4-FFF2-40B4-BE49-F238E27FC236}">
                <a16:creationId xmlns:a16="http://schemas.microsoft.com/office/drawing/2014/main" id="{DAA1B368-1D3C-FE61-A4F3-B1C31ED8CA0C}"/>
              </a:ext>
            </a:extLst>
          </p:cNvPr>
          <p:cNvSpPr/>
          <p:nvPr/>
        </p:nvSpPr>
        <p:spPr>
          <a:xfrm>
            <a:off x="1227306" y="2989109"/>
            <a:ext cx="1467334" cy="38616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dirty="0">
              <a:solidFill>
                <a:schemeClr val="tx1"/>
              </a:solidFill>
              <a:latin typeface="Comic Sans MS" panose="030F0702030302020204" pitchFamily="66" charset="0"/>
            </a:endParaRPr>
          </a:p>
        </p:txBody>
      </p:sp>
      <p:sp>
        <p:nvSpPr>
          <p:cNvPr id="3" name="Rectangle 2">
            <a:extLst>
              <a:ext uri="{FF2B5EF4-FFF2-40B4-BE49-F238E27FC236}">
                <a16:creationId xmlns:a16="http://schemas.microsoft.com/office/drawing/2014/main" id="{DB732965-290B-2C95-95F3-B29740B6CF8D}"/>
              </a:ext>
            </a:extLst>
          </p:cNvPr>
          <p:cNvSpPr/>
          <p:nvPr/>
        </p:nvSpPr>
        <p:spPr>
          <a:xfrm>
            <a:off x="3544824" y="2533893"/>
            <a:ext cx="1961002" cy="1868843"/>
          </a:xfrm>
          <a:prstGeom prst="rect">
            <a:avLst/>
          </a:prstGeom>
          <a:solidFill>
            <a:schemeClr val="bg1"/>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200" dirty="0">
              <a:solidFill>
                <a:schemeClr val="tx1"/>
              </a:solidFill>
              <a:latin typeface="Comic Sans MS" panose="030F0702030302020204" pitchFamily="66" charset="0"/>
            </a:endParaRPr>
          </a:p>
        </p:txBody>
      </p:sp>
      <p:sp>
        <p:nvSpPr>
          <p:cNvPr id="4" name="Rectangle 3">
            <a:extLst>
              <a:ext uri="{FF2B5EF4-FFF2-40B4-BE49-F238E27FC236}">
                <a16:creationId xmlns:a16="http://schemas.microsoft.com/office/drawing/2014/main" id="{E9839318-40B8-EB7F-1387-A872C29A0ECB}"/>
              </a:ext>
            </a:extLst>
          </p:cNvPr>
          <p:cNvSpPr/>
          <p:nvPr/>
        </p:nvSpPr>
        <p:spPr>
          <a:xfrm>
            <a:off x="3715618" y="2671178"/>
            <a:ext cx="1651887" cy="3861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System Instructions</a:t>
            </a:r>
            <a:endParaRPr lang="en-AU" sz="1200" dirty="0">
              <a:solidFill>
                <a:schemeClr val="tx1"/>
              </a:solidFill>
              <a:latin typeface="Comic Sans MS" panose="030F0702030302020204" pitchFamily="66" charset="0"/>
            </a:endParaRPr>
          </a:p>
        </p:txBody>
      </p:sp>
      <p:sp>
        <p:nvSpPr>
          <p:cNvPr id="5" name="Rectangle 4">
            <a:extLst>
              <a:ext uri="{FF2B5EF4-FFF2-40B4-BE49-F238E27FC236}">
                <a16:creationId xmlns:a16="http://schemas.microsoft.com/office/drawing/2014/main" id="{FE3E7387-75E1-45F5-5430-834DF067138C}"/>
              </a:ext>
            </a:extLst>
          </p:cNvPr>
          <p:cNvSpPr/>
          <p:nvPr/>
        </p:nvSpPr>
        <p:spPr>
          <a:xfrm>
            <a:off x="1334538" y="2864258"/>
            <a:ext cx="1467334" cy="386162"/>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Customer Reviews</a:t>
            </a:r>
            <a:endParaRPr lang="en-AU" sz="1200" dirty="0">
              <a:solidFill>
                <a:schemeClr val="tx1"/>
              </a:solidFill>
              <a:latin typeface="Comic Sans MS" panose="030F0702030302020204" pitchFamily="66" charset="0"/>
            </a:endParaRPr>
          </a:p>
        </p:txBody>
      </p:sp>
      <p:sp>
        <p:nvSpPr>
          <p:cNvPr id="11" name="Rectangle 10">
            <a:extLst>
              <a:ext uri="{FF2B5EF4-FFF2-40B4-BE49-F238E27FC236}">
                <a16:creationId xmlns:a16="http://schemas.microsoft.com/office/drawing/2014/main" id="{4DACEAE4-7F78-A32D-4DC7-E66C042C9850}"/>
              </a:ext>
            </a:extLst>
          </p:cNvPr>
          <p:cNvSpPr/>
          <p:nvPr/>
        </p:nvSpPr>
        <p:spPr>
          <a:xfrm>
            <a:off x="3698518" y="3168209"/>
            <a:ext cx="1668987" cy="3861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Language Model</a:t>
            </a:r>
            <a:endParaRPr lang="en-AU" sz="1200" dirty="0">
              <a:solidFill>
                <a:schemeClr val="tx1"/>
              </a:solidFill>
              <a:latin typeface="Comic Sans MS" panose="030F0702030302020204" pitchFamily="66" charset="0"/>
            </a:endParaRPr>
          </a:p>
        </p:txBody>
      </p:sp>
      <p:sp>
        <p:nvSpPr>
          <p:cNvPr id="12" name="Rectangle 11">
            <a:extLst>
              <a:ext uri="{FF2B5EF4-FFF2-40B4-BE49-F238E27FC236}">
                <a16:creationId xmlns:a16="http://schemas.microsoft.com/office/drawing/2014/main" id="{23FC97D0-C310-F922-2AB1-D662A97C92E7}"/>
              </a:ext>
            </a:extLst>
          </p:cNvPr>
          <p:cNvSpPr/>
          <p:nvPr/>
        </p:nvSpPr>
        <p:spPr>
          <a:xfrm>
            <a:off x="3698518" y="3642688"/>
            <a:ext cx="1668987" cy="38616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mic Sans MS" panose="030F0702030302020204" pitchFamily="66" charset="0"/>
              </a:rPr>
              <a:t>Tools</a:t>
            </a:r>
            <a:endParaRPr lang="en-AU" sz="1200" dirty="0">
              <a:solidFill>
                <a:schemeClr val="tx1"/>
              </a:solidFill>
              <a:latin typeface="Comic Sans MS" panose="030F0702030302020204" pitchFamily="66" charset="0"/>
            </a:endParaRPr>
          </a:p>
        </p:txBody>
      </p:sp>
      <p:cxnSp>
        <p:nvCxnSpPr>
          <p:cNvPr id="17" name="Straight Arrow Connector 16">
            <a:extLst>
              <a:ext uri="{FF2B5EF4-FFF2-40B4-BE49-F238E27FC236}">
                <a16:creationId xmlns:a16="http://schemas.microsoft.com/office/drawing/2014/main" id="{1AD91A05-3D7A-0CCB-E41B-635B66211EBF}"/>
              </a:ext>
            </a:extLst>
          </p:cNvPr>
          <p:cNvCxnSpPr>
            <a:cxnSpLocks/>
          </p:cNvCxnSpPr>
          <p:nvPr/>
        </p:nvCxnSpPr>
        <p:spPr>
          <a:xfrm flipV="1">
            <a:off x="2898648" y="3245749"/>
            <a:ext cx="549400" cy="4671"/>
          </a:xfrm>
          <a:prstGeom prst="straightConnector1">
            <a:avLst/>
          </a:prstGeom>
          <a:ln w="571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438958E-44A3-6CCA-9F25-F7A9FFA9743F}"/>
              </a:ext>
            </a:extLst>
          </p:cNvPr>
          <p:cNvSpPr/>
          <p:nvPr/>
        </p:nvSpPr>
        <p:spPr>
          <a:xfrm>
            <a:off x="3544824" y="1828800"/>
            <a:ext cx="1961002" cy="592608"/>
          </a:xfrm>
          <a:prstGeom prst="rect">
            <a:avLst/>
          </a:prstGeom>
          <a:solidFill>
            <a:schemeClr val="tx2">
              <a:lumMod val="90000"/>
              <a:lumOff val="10000"/>
            </a:schemeClr>
          </a:solidFill>
          <a:ln w="285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dirty="0">
                <a:latin typeface="Comic Sans MS" panose="030F0702030302020204" pitchFamily="66" charset="0"/>
              </a:rPr>
              <a:t>AGENT : Customer Review Analyzer</a:t>
            </a:r>
            <a:endParaRPr lang="en-AU" sz="1200" dirty="0">
              <a:latin typeface="Comic Sans MS" panose="030F0702030302020204" pitchFamily="66" charset="0"/>
            </a:endParaRPr>
          </a:p>
        </p:txBody>
      </p:sp>
      <p:sp>
        <p:nvSpPr>
          <p:cNvPr id="41" name="Rectangle 40">
            <a:extLst>
              <a:ext uri="{FF2B5EF4-FFF2-40B4-BE49-F238E27FC236}">
                <a16:creationId xmlns:a16="http://schemas.microsoft.com/office/drawing/2014/main" id="{EC0C23DA-3000-445E-1D82-287D5B97F95C}"/>
              </a:ext>
            </a:extLst>
          </p:cNvPr>
          <p:cNvSpPr/>
          <p:nvPr/>
        </p:nvSpPr>
        <p:spPr>
          <a:xfrm>
            <a:off x="4172712" y="4194750"/>
            <a:ext cx="1844040" cy="592608"/>
          </a:xfrm>
          <a:prstGeom prst="rect">
            <a:avLst/>
          </a:prstGeom>
          <a:solidFill>
            <a:schemeClr val="bg1"/>
          </a:solidFill>
          <a:ln w="285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solidFill>
                  <a:schemeClr val="tx2">
                    <a:lumMod val="75000"/>
                    <a:lumOff val="25000"/>
                  </a:schemeClr>
                </a:solidFill>
                <a:latin typeface="Comic Sans MS" panose="030F0702030302020204" pitchFamily="66" charset="0"/>
              </a:rPr>
              <a:t>Microsoft Agent Framework</a:t>
            </a:r>
            <a:endParaRPr lang="en-AU" sz="1400" dirty="0">
              <a:solidFill>
                <a:schemeClr val="tx2">
                  <a:lumMod val="75000"/>
                  <a:lumOff val="25000"/>
                </a:schemeClr>
              </a:solidFill>
              <a:latin typeface="Comic Sans MS" panose="030F0702030302020204" pitchFamily="66" charset="0"/>
            </a:endParaRPr>
          </a:p>
        </p:txBody>
      </p:sp>
      <p:cxnSp>
        <p:nvCxnSpPr>
          <p:cNvPr id="43" name="Straight Arrow Connector 42">
            <a:extLst>
              <a:ext uri="{FF2B5EF4-FFF2-40B4-BE49-F238E27FC236}">
                <a16:creationId xmlns:a16="http://schemas.microsoft.com/office/drawing/2014/main" id="{3C16A710-3ACD-D2F7-74E0-7726DBF3E792}"/>
              </a:ext>
            </a:extLst>
          </p:cNvPr>
          <p:cNvCxnSpPr>
            <a:cxnSpLocks/>
          </p:cNvCxnSpPr>
          <p:nvPr/>
        </p:nvCxnSpPr>
        <p:spPr>
          <a:xfrm flipV="1">
            <a:off x="5602602" y="3191256"/>
            <a:ext cx="549400" cy="4671"/>
          </a:xfrm>
          <a:prstGeom prst="straightConnector1">
            <a:avLst/>
          </a:prstGeom>
          <a:ln w="571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0E4055DA-C867-5198-B5D1-27B08E1267A3}"/>
              </a:ext>
            </a:extLst>
          </p:cNvPr>
          <p:cNvPicPr>
            <a:picLocks noChangeAspect="1"/>
          </p:cNvPicPr>
          <p:nvPr/>
        </p:nvPicPr>
        <p:blipFill>
          <a:blip r:embed="rId3"/>
          <a:stretch>
            <a:fillRect/>
          </a:stretch>
        </p:blipFill>
        <p:spPr>
          <a:xfrm>
            <a:off x="8923006" y="2744073"/>
            <a:ext cx="476274" cy="501676"/>
          </a:xfrm>
          <a:prstGeom prst="rect">
            <a:avLst/>
          </a:prstGeom>
        </p:spPr>
      </p:pic>
      <p:sp>
        <p:nvSpPr>
          <p:cNvPr id="47" name="TextBox 46">
            <a:extLst>
              <a:ext uri="{FF2B5EF4-FFF2-40B4-BE49-F238E27FC236}">
                <a16:creationId xmlns:a16="http://schemas.microsoft.com/office/drawing/2014/main" id="{A592543D-44AC-EF29-C3A3-83504B62696D}"/>
              </a:ext>
            </a:extLst>
          </p:cNvPr>
          <p:cNvSpPr txBox="1"/>
          <p:nvPr/>
        </p:nvSpPr>
        <p:spPr>
          <a:xfrm>
            <a:off x="9019328" y="3375271"/>
            <a:ext cx="1745615" cy="461665"/>
          </a:xfrm>
          <a:prstGeom prst="rect">
            <a:avLst/>
          </a:prstGeom>
          <a:noFill/>
        </p:spPr>
        <p:txBody>
          <a:bodyPr wrap="square">
            <a:spAutoFit/>
          </a:bodyPr>
          <a:lstStyle/>
          <a:p>
            <a:r>
              <a:rPr lang="en-US" sz="1200" dirty="0">
                <a:latin typeface="Comic Sans MS" panose="030F0702030302020204" pitchFamily="66" charset="0"/>
              </a:rPr>
              <a:t>Analytics &amp; </a:t>
            </a:r>
          </a:p>
          <a:p>
            <a:r>
              <a:rPr lang="en-US" sz="1200" dirty="0">
                <a:latin typeface="Comic Sans MS" panose="030F0702030302020204" pitchFamily="66" charset="0"/>
              </a:rPr>
              <a:t>Reporting</a:t>
            </a:r>
          </a:p>
        </p:txBody>
      </p:sp>
      <p:sp>
        <p:nvSpPr>
          <p:cNvPr id="48" name="Rectangle 47">
            <a:extLst>
              <a:ext uri="{FF2B5EF4-FFF2-40B4-BE49-F238E27FC236}">
                <a16:creationId xmlns:a16="http://schemas.microsoft.com/office/drawing/2014/main" id="{1680C37F-C28E-6A72-2633-7993A43B2C93}"/>
              </a:ext>
            </a:extLst>
          </p:cNvPr>
          <p:cNvSpPr/>
          <p:nvPr/>
        </p:nvSpPr>
        <p:spPr>
          <a:xfrm>
            <a:off x="6219052" y="2607339"/>
            <a:ext cx="1862355" cy="1112397"/>
          </a:xfrm>
          <a:prstGeom prst="rect">
            <a:avLst/>
          </a:prstGeom>
          <a:solidFill>
            <a:schemeClr val="bg1"/>
          </a:solidFill>
          <a:ln w="952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100" b="1" dirty="0">
                <a:solidFill>
                  <a:schemeClr val="tx1"/>
                </a:solidFill>
                <a:latin typeface="Comic Sans MS" panose="030F0702030302020204" pitchFamily="66" charset="0"/>
              </a:rPr>
              <a:t>{</a:t>
            </a:r>
            <a:br>
              <a:rPr lang="en-AU" sz="1100" b="1" dirty="0">
                <a:solidFill>
                  <a:schemeClr val="tx1"/>
                </a:solidFill>
                <a:latin typeface="Comic Sans MS" panose="030F0702030302020204" pitchFamily="66" charset="0"/>
              </a:rPr>
            </a:br>
            <a:r>
              <a:rPr lang="en-AU" sz="1100" b="1" dirty="0">
                <a:solidFill>
                  <a:schemeClr val="tx1"/>
                </a:solidFill>
                <a:latin typeface="Comic Sans MS" panose="030F0702030302020204" pitchFamily="66" charset="0"/>
              </a:rPr>
              <a:t>  “sentiment”: “positive”</a:t>
            </a:r>
            <a:br>
              <a:rPr lang="en-AU" sz="1100" b="1" dirty="0">
                <a:solidFill>
                  <a:schemeClr val="tx1"/>
                </a:solidFill>
                <a:latin typeface="Comic Sans MS" panose="030F0702030302020204" pitchFamily="66" charset="0"/>
              </a:rPr>
            </a:br>
            <a:r>
              <a:rPr lang="en-AU" sz="1100" b="1" dirty="0">
                <a:solidFill>
                  <a:schemeClr val="tx1"/>
                </a:solidFill>
                <a:latin typeface="Comic Sans MS" panose="030F0702030302020204" pitchFamily="66" charset="0"/>
              </a:rPr>
              <a:t>   ...</a:t>
            </a:r>
            <a:br>
              <a:rPr lang="en-AU" sz="1100" b="1" dirty="0">
                <a:solidFill>
                  <a:schemeClr val="tx1"/>
                </a:solidFill>
                <a:latin typeface="Comic Sans MS" panose="030F0702030302020204" pitchFamily="66" charset="0"/>
              </a:rPr>
            </a:br>
            <a:r>
              <a:rPr lang="en-AU" sz="1100" b="1" dirty="0">
                <a:solidFill>
                  <a:schemeClr val="tx1"/>
                </a:solidFill>
                <a:latin typeface="Comic Sans MS" panose="030F0702030302020204" pitchFamily="66" charset="0"/>
              </a:rPr>
              <a:t>}</a:t>
            </a:r>
            <a:endParaRPr lang="en-AU" sz="1100" dirty="0">
              <a:solidFill>
                <a:schemeClr val="tx1"/>
              </a:solidFill>
              <a:latin typeface="Comic Sans MS" panose="030F0702030302020204" pitchFamily="66" charset="0"/>
            </a:endParaRPr>
          </a:p>
        </p:txBody>
      </p:sp>
      <p:cxnSp>
        <p:nvCxnSpPr>
          <p:cNvPr id="49" name="Straight Arrow Connector 48">
            <a:extLst>
              <a:ext uri="{FF2B5EF4-FFF2-40B4-BE49-F238E27FC236}">
                <a16:creationId xmlns:a16="http://schemas.microsoft.com/office/drawing/2014/main" id="{D25CC946-A820-8AA2-95B6-CBF7531CB327}"/>
              </a:ext>
            </a:extLst>
          </p:cNvPr>
          <p:cNvCxnSpPr>
            <a:cxnSpLocks/>
          </p:cNvCxnSpPr>
          <p:nvPr/>
        </p:nvCxnSpPr>
        <p:spPr>
          <a:xfrm flipV="1">
            <a:off x="8159032" y="3163538"/>
            <a:ext cx="549400" cy="4671"/>
          </a:xfrm>
          <a:prstGeom prst="straightConnector1">
            <a:avLst/>
          </a:prstGeom>
          <a:ln w="571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078DDD7-3D3E-6D40-2C43-C6A8B8782472}"/>
              </a:ext>
            </a:extLst>
          </p:cNvPr>
          <p:cNvSpPr txBox="1"/>
          <p:nvPr/>
        </p:nvSpPr>
        <p:spPr>
          <a:xfrm>
            <a:off x="6152002" y="2256894"/>
            <a:ext cx="2154511" cy="276999"/>
          </a:xfrm>
          <a:prstGeom prst="rect">
            <a:avLst/>
          </a:prstGeom>
          <a:noFill/>
        </p:spPr>
        <p:txBody>
          <a:bodyPr wrap="square">
            <a:spAutoFit/>
          </a:bodyPr>
          <a:lstStyle/>
          <a:p>
            <a:r>
              <a:rPr lang="en-US" sz="1200" b="1" dirty="0">
                <a:latin typeface="Comic Sans MS" panose="030F0702030302020204" pitchFamily="66" charset="0"/>
              </a:rPr>
              <a:t>Structured JSON Output</a:t>
            </a:r>
          </a:p>
        </p:txBody>
      </p:sp>
      <p:pic>
        <p:nvPicPr>
          <p:cNvPr id="61" name="Picture 60">
            <a:extLst>
              <a:ext uri="{FF2B5EF4-FFF2-40B4-BE49-F238E27FC236}">
                <a16:creationId xmlns:a16="http://schemas.microsoft.com/office/drawing/2014/main" id="{CFF66038-657B-C3D4-28D7-FEBE5BE7304E}"/>
              </a:ext>
            </a:extLst>
          </p:cNvPr>
          <p:cNvPicPr>
            <a:picLocks noChangeAspect="1"/>
          </p:cNvPicPr>
          <p:nvPr/>
        </p:nvPicPr>
        <p:blipFill>
          <a:blip r:embed="rId4"/>
          <a:stretch>
            <a:fillRect/>
          </a:stretch>
        </p:blipFill>
        <p:spPr>
          <a:xfrm>
            <a:off x="9550031" y="2711589"/>
            <a:ext cx="476274" cy="572240"/>
          </a:xfrm>
          <a:prstGeom prst="rect">
            <a:avLst/>
          </a:prstGeom>
        </p:spPr>
      </p:pic>
    </p:spTree>
    <p:extLst>
      <p:ext uri="{BB962C8B-B14F-4D97-AF65-F5344CB8AC3E}">
        <p14:creationId xmlns:p14="http://schemas.microsoft.com/office/powerpoint/2010/main" val="352692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423</TotalTime>
  <Words>527</Words>
  <Application>Microsoft Office PowerPoint</Application>
  <PresentationFormat>Widescreen</PresentationFormat>
  <Paragraphs>70</Paragraphs>
  <Slides>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Aptos Display</vt:lpstr>
      <vt:lpstr>Arial</vt:lpstr>
      <vt:lpstr>Comic Sans MS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Rakesh Lakshminarayana (Agile Insights)</dc:creator>
  <cp:lastModifiedBy>Rakesh Lakshminarayana (Agile Insights)</cp:lastModifiedBy>
  <cp:revision>52</cp:revision>
  <dcterms:created xsi:type="dcterms:W3CDTF">2025-05-13T01:45:44Z</dcterms:created>
  <dcterms:modified xsi:type="dcterms:W3CDTF">2025-11-08T08:48:59Z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283520-1c8e-42d2-9694-49d7ad25ef82_Enabled">
    <vt:lpwstr>true</vt:lpwstr>
  </property>
  <property fmtid="{D5CDD505-2E9C-101B-9397-08002B2CF9AE}" pid="3" name="MSIP_Label_19283520-1c8e-42d2-9694-49d7ad25ef82_SetDate">
    <vt:lpwstr>2025-05-13T01:45:47Z</vt:lpwstr>
  </property>
  <property fmtid="{D5CDD505-2E9C-101B-9397-08002B2CF9AE}" pid="4" name="MSIP_Label_19283520-1c8e-42d2-9694-49d7ad25ef82_Method">
    <vt:lpwstr>Standard</vt:lpwstr>
  </property>
  <property fmtid="{D5CDD505-2E9C-101B-9397-08002B2CF9AE}" pid="5" name="MSIP_Label_19283520-1c8e-42d2-9694-49d7ad25ef82_Name">
    <vt:lpwstr>Official</vt:lpwstr>
  </property>
  <property fmtid="{D5CDD505-2E9C-101B-9397-08002B2CF9AE}" pid="6" name="MSIP_Label_19283520-1c8e-42d2-9694-49d7ad25ef82_SiteId">
    <vt:lpwstr>036f815c-3d92-42f2-a595-d69e17a03194</vt:lpwstr>
  </property>
  <property fmtid="{D5CDD505-2E9C-101B-9397-08002B2CF9AE}" pid="7" name="MSIP_Label_19283520-1c8e-42d2-9694-49d7ad25ef82_ActionId">
    <vt:lpwstr>8d5f06c2-b587-44ae-816e-081185d0860d</vt:lpwstr>
  </property>
  <property fmtid="{D5CDD505-2E9C-101B-9397-08002B2CF9AE}" pid="8" name="MSIP_Label_19283520-1c8e-42d2-9694-49d7ad25ef82_ContentBits">
    <vt:lpwstr>0</vt:lpwstr>
  </property>
  <property fmtid="{D5CDD505-2E9C-101B-9397-08002B2CF9AE}" pid="9" name="MSIP_Label_19283520-1c8e-42d2-9694-49d7ad25ef82_Tag">
    <vt:lpwstr>10, 3, 0, 1</vt:lpwstr>
  </property>
</Properties>
</file>